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封面及全场机动共30秒
【操作提示，不额外朗读】
本页展示题目与文献信息，随后进入开场。
不逐字朗读英文题名。
封面展示计入全场30秒机动时间。
【制作备查，不口述｜图片与文件】
原文图片：PDF第1页顶部题名、作者、期刊信息，未截摘要。该图为独立可替换图片；汇报人仍为[姓名]，请自行填写。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正文0:00—0:40，约40秒。
【口述】
大家好。先看一个熟悉的群聊情境：几位成员各回一句“同意”，管理员可能会说，别刷屏了，点个赞吧。
文字确实少了，但这一定意味着参与下降吗？同样，提供回复按钮，是否就能让讨论更充分？
今天介绍的这项研究，把这些日常界面选择放进随机实验，考察它们如何改变政治讨论。
【制作备查，不口述｜图片与文件】
情境图按用户默认要求保留为空白占位，未调用生图，也不是实验数据。图片框与占位说明是独立对象；补图后可单独删除说明。情境应对比同一条观点“我认为平台应该删除冒犯性内容。”：三名匿名成员分别发送“同意”“赞同”“我也这么想”，与原消息下附着的三个赞同反应。不能用单独发送的表情消息冒充附着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正文0:40—1:30，约50秒。
【口述】
作者关注的是，界面功能如何改变人与人之间的交流。
研究以互动媒体效果理论TIME为起点，将内部包容性分成参与、互动和多样性：分别看贡献多少、回应如何连接，以及哪些立场和主题得到表达。
作者预期，一键反应可能减少继续打字的需要，降低参与和互动；定向回复可能维持来回交流，增加两者。这些是理论解释，不是已验证的心理过程。
对于多样性，论文不预设方向，而是提出开放问题。
【制作备查，不口述】
TIME的理论依据位于PDF第2页左栏中部，“Our work is grounded…”开头的段落。
页面重点展示假设，不再放一整段理论综述。
【制作备查，不口述｜图片与文件】
已插入PDF第3页H1（左栏下部）和H2（右栏中上部）两条原文截图。分别标示反应与回复预期；未绘制心理中介路径。两图均可独立替换。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正文1:30—2:25，约55秒。
【口述】
要判断是不是按钮带来的变化，就需要控制其他平台差异。作者因此自建聊天室，将反应和回复分别设为可用或不可用，形成四组，并在聊天室层面随机分配。
同室成员使用相同功能，四组都能发送普通文字；没有回复按钮，也可以用文字回应别人。
美国成年参与者围绕社交媒体内容监管讨论约二十八分钟。共有1,643人进入，其中273人没有发送消息，主要行为分析使用1,370名发言者的记录。
这个样本范围，也是后面评价结论时要保留的边界。
【制作备查，不口述】
样本进入与排除情况位于PDF第6页左栏下部的Recruitment段落。
表1含420人的单格，正文却写四组最多416人，二者不一致。
保留原表，不擅自修正；台上不报告“399—416人”这一区间。
实际比较的是功能条件及其配套说明、提示，不把结果解释为完全排除了提示作用的纯按钮效应。
【制作备查，不口述｜图片与文件】
已插入PDF第5页左上表1，完整保留Allow reactions、Allow Replies、No/Yes与399、408、420、416。图片纵横比未改变；其下样本说明是可编辑文本。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正文2:25—3:10，约45秒。
【口述】
这里需要做一次操作化，也就是把抽象概念转成可以观察的指标。
为便于汇报，我选出四项代表指标：每人发多少条消息、典型一条消息多长、回应链条延伸几层，以及不同立场的表达有多丰富、分布是否集中。
作者也编码了没有点击回复按钮、但在文字中回应他人的内容。因此，回复链不是对按钮点击的简单计数。
分析同时考虑了同一聊天室成员之间的关联。
【备查，不口述】
这四项是本次汇报选取的代表指标，不是论文的全部结局。
立场多样性使用Shannon指标。
统计方法见第6页左栏Analytical strategies，正文报告带聊天室随机截距的回归模型。
口述不展开模型名称、公式或全部网络指标。
【制作备查，不口述｜图片与文件】
四行表为原生可编辑PowerPoint表格；分别依据PDF第5页Participation measures、Conversation depth、Diversity measures与第6页相关分析说明整理。未新增研究指标或公式。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正文3:10—4:10，约60秒。
【口述】
先看原文图2。每个点表示一种功能可用时，相对于不可用条件的差异；虚线零是无差异的基准。
我们先只看绿色点，也就是反应功能。消息数量的点在零线下方，消息长度的点在上方，两个方向都达到统计显著。
这说明，有反应时，文字消息较少，而典型单条消息更长，参与下降的预期只得到部分支持。
至于是不是简短文字被点赞替代，这与结果相容，但研究没有直接检验。消息更长，也不能直接等同于表达更完整。
【备查，不口述】
图中误差线为±SE，不是95%置信区间。
不能用误差线是否跨零，直接代替通常显著性水平下的判断。
图中点是模型系数，不是平均消息条数，也不能直接读成变化百分比。
原图自带统计符号需要保留，但口述不逐个解释或朗读数值。
【制作备查，不口述｜图片与文件】
已从PDF第10页内嵌原图提取图2用户层面前两个面板。原图横轴功能标签、纵轴Coefficient (±SE)与共享图例独立截取后并排／下方组合保留；所有数据面板、原始比例、绿橙色、零线、刻度、误差线及显著性符号未重绘。上方中文标签为图外可编辑文本。功能标签是两项功能效应，不是两个互斥实验组。误差线为±SE，非95%置信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正文4:10—5:10，约60秒。
【口述】
接着把几个关键结果放在一起看。
反应功能对应消息更少、立场多样性更高；回复功能没有带来文字参与的明确增加，却使回复链显著加深，同时使立场多样性下降。
回复也没有显著改善其他几项互动指标。因此，增加参与的预期未获支持，增加互动只得到部分支持。
作者将这种不同指标没有共同改善的模式概括为权衡。
这里，链条更深不代表论证更深入；立场更多样，也不意味着话题更广。我们看到的是不同讨论维度的变化，而不是讨论质量的统一升降。
【备查，不口述】
原表对回复影响消息数量和长度使用了边际结果标记。
本页按正文假设判断概括为“未见明确增加”，不把边际结果作为明确方向性发现。
原文还报告：反应条件下，立场多样性上升而主题广度下降。
因此，不把“多样性”讲成统一上升。
“权衡”不是在宣称显著统计交互，也不是在证明固定的零和关系。
【制作备查，不口述｜图片与文件】
PDF第13页表3为横置宽表。为确保规定左侧区域中的投影可读性，按用户已授权的替代方式采用中文原生可编辑简表，明确标注“依据原文表3及正文整理”。不是原文截图。已核对表3变量行与正文关于回复消息数量的边际结果，保留“未见明确增加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正文5:10—5:55，约45秒。
【口述】
我认为它的贡献，是在TIME框架下，进一步连接具体界面功能与群体讨论的多维结果。
它提醒我们，互动性不能只用“多一点”或“少一点”来评价，而要区分功能带来的不同后果。
实践上，设计者应先明确目标：持续回应与容纳不同立场，需要分别观察，不能只用一项活跃度指标做总体判断。
本文提供的是评估功能的思路，还不能直接推出所有平台都应增加或关闭某个按钮。具体设计仍需结合场景验证。
【备查，不口述】
理论贡献宜表述为经验细化与具体功能的受控比较。
不宣称本文首次发现互动性具有多个维度。
不宣称验证了完整心理机制。
【制作备查，不口述｜图片与文件】
截图取自PDF第10页左栏Discussion首段的连续必要句，包含no single interactive feature uniformly enhances discussion quality及相邻上下文。下方中文句是汇报者概括，不加直接引语引号。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正文5:55—7:00，约65秒。
【口述】
对这项研究，我主要保留两个问题。
第一，主要分析排除了273名未发消息者。如果按钮会影响谁愿意开口，两组留下的发言者就可能不再完全可比。这是需要核验的风险，不是已经证实的偏差，可以补充比较各组发言比例。
第二，作者说明，部分预注册的语言质量检验未显著，文章转向内部包容性。公开说明体现了透明度，但当前哪些检验属于事前计划，仍需逐项对照注册方案。
因此，我会把它看作一项值得重视的实验，同时保留对样本范围和分析确认性的判断。
【备查，不口述】
不能把未发消息者一概称为“没有参与的人”，他们可能阅读或使用其他功能。
不能仅因排除未发消息者就宣布全部因果结论无效。
也不能因作者给出概念性解释，就认为统计选择风险已经解决。
未发消息者的消息数量可以有意义地记为零；
消息长度和立场多样性则不能机械填零。
原文没有据此证明全部假设事后提出；
“研究重点调整”也不等同于“反复修改模型”。
【制作备查，不口述｜图片与文件】
上图取PDF第14页左栏首段前5行，完整保留273名未发消息者及行为测量范围的两句话。下图取同页“The study design…”段落的前两句，保留预注册语言质量检验不显著和当前包容性分析的说明；摘录止于quality.，该行后续无关句不展示。两图为可替换的原文句段，不是汇报者评价。未逐项核验外部预注册方案，因此不对当前每项检验的确认性作超出用户稿件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【讲述预算，不口述】
正文7:00—7:30，约30秒。
【口述】
回到开场，文字减少不必然意味着参与全面衰退，回复链变长也不等于讨论全面改善。
这篇论文最有价值的提醒，是先明确改善目标，再看相应指标，并说明结论适用于哪些人和场景。
论文原文和DOI放在这里。谢谢大家。
【制作备查，不口述｜图片与文件】
DOI文本可点击并指向https://doi.org/10.1093/jcmc/zmag008。小型PDF入口区域按用户要求预留，无虚构二维码或假链接。未添加新图或统计结果。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jcmc/zmag00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 of Computer-Mediated Communication, 31(3), zmag008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doi.org/10.1093/jcmc/zmag008</a:t>
            </a:r>
            <a:endParaRPr lang="en-US" sz="1000" dirty="0"/>
          </a:p>
        </p:txBody>
      </p:sp>
      <p:sp>
        <p:nvSpPr>
          <p:cNvPr id="3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ITLE_cover"/>
          <p:cNvSpPr/>
          <p:nvPr/>
        </p:nvSpPr>
        <p:spPr>
          <a:xfrm>
            <a:off x="540000" y="1325880"/>
            <a:ext cx="6667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反应与回复</a:t>
            </a:r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C3B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如何改变政治讨论？</a:t>
            </a:r>
            <a:endParaRPr lang="en-US" sz="3200" dirty="0"/>
          </a:p>
        </p:txBody>
      </p:sp>
      <p:sp>
        <p:nvSpPr>
          <p:cNvPr id="5" name="BODY_subtitle"/>
          <p:cNvSpPr/>
          <p:nvPr/>
        </p:nvSpPr>
        <p:spPr>
          <a:xfrm>
            <a:off x="540000" y="2999232"/>
            <a:ext cx="666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参与、互动与多样性的权衡</a:t>
            </a:r>
            <a:endParaRPr lang="en-US" sz="2400" dirty="0"/>
          </a:p>
        </p:txBody>
      </p:sp>
      <p:pic>
        <p:nvPicPr>
          <p:cNvPr id="6" name="EVIDENCE_paper_title_authors" descr="/workspace/outputs/political-discussion/assets/cover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4161619"/>
            <a:ext cx="6667200" cy="1790026"/>
          </a:xfrm>
          <a:prstGeom prst="rect">
            <a:avLst/>
          </a:prstGeom>
        </p:spPr>
      </p:pic>
      <p:sp>
        <p:nvSpPr>
          <p:cNvPr id="7" name="ANNOTATION_bar_1"/>
          <p:cNvSpPr/>
          <p:nvPr/>
        </p:nvSpPr>
        <p:spPr>
          <a:xfrm>
            <a:off x="7762800" y="2075688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8" name="LABEL_annotation_number_1"/>
          <p:cNvSpPr/>
          <p:nvPr/>
        </p:nvSpPr>
        <p:spPr>
          <a:xfrm>
            <a:off x="7890816" y="193852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BODY_annotation_1"/>
          <p:cNvSpPr/>
          <p:nvPr/>
        </p:nvSpPr>
        <p:spPr>
          <a:xfrm>
            <a:off x="8265720" y="1938528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1800" dirty="0"/>
          </a:p>
        </p:txBody>
      </p:sp>
      <p:sp>
        <p:nvSpPr>
          <p:cNvPr id="10" name="ANNOTATION_bar_2"/>
          <p:cNvSpPr/>
          <p:nvPr/>
        </p:nvSpPr>
        <p:spPr>
          <a:xfrm>
            <a:off x="7762800" y="3172968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1" name="LABEL_annotation_number_2"/>
          <p:cNvSpPr/>
          <p:nvPr/>
        </p:nvSpPr>
        <p:spPr>
          <a:xfrm>
            <a:off x="7890816" y="303580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BODY_annotation_2"/>
          <p:cNvSpPr/>
          <p:nvPr/>
        </p:nvSpPr>
        <p:spPr>
          <a:xfrm>
            <a:off x="8265720" y="3035808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JCMC</a:t>
            </a:r>
            <a:endParaRPr lang="en-US" sz="1800" dirty="0"/>
          </a:p>
        </p:txBody>
      </p:sp>
      <p:sp>
        <p:nvSpPr>
          <p:cNvPr id="13" name="ANNOTATION_bar_3"/>
          <p:cNvSpPr/>
          <p:nvPr/>
        </p:nvSpPr>
        <p:spPr>
          <a:xfrm>
            <a:off x="7762800" y="4270248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4" name="LABEL_annotation_number_3"/>
          <p:cNvSpPr/>
          <p:nvPr/>
        </p:nvSpPr>
        <p:spPr>
          <a:xfrm>
            <a:off x="7890816" y="413308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BODY_annotation_3"/>
          <p:cNvSpPr/>
          <p:nvPr/>
        </p:nvSpPr>
        <p:spPr>
          <a:xfrm>
            <a:off x="8265720" y="4133088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汇报人：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姓名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文字少了，参与就少了吗？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情境演示，非实验数据；研究问题参见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FRAME_context_image"/>
          <p:cNvSpPr/>
          <p:nvPr/>
        </p:nvSpPr>
        <p:spPr>
          <a:xfrm>
            <a:off x="540000" y="1673352"/>
            <a:ext cx="6667200" cy="3621024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7" name="LABEL_context_image_independently_deletable"/>
          <p:cNvSpPr/>
          <p:nvPr/>
        </p:nvSpPr>
        <p:spPr>
          <a:xfrm>
            <a:off x="722880" y="3300984"/>
            <a:ext cx="63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群聊情境对比图，待插入</a:t>
            </a:r>
            <a:endParaRPr lang="en-US" sz="1600" dirty="0"/>
          </a:p>
        </p:txBody>
      </p:sp>
      <p:sp>
        <p:nvSpPr>
          <p:cNvPr id="8" name="CAPTION_context_not_experiment"/>
          <p:cNvSpPr/>
          <p:nvPr/>
        </p:nvSpPr>
        <p:spPr>
          <a:xfrm>
            <a:off x="540000" y="5513832"/>
            <a:ext cx="666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情境演示，非实验数据。</a:t>
            </a:r>
            <a:endParaRPr lang="en-US" sz="1400" dirty="0"/>
          </a:p>
        </p:txBody>
      </p:sp>
      <p:sp>
        <p:nvSpPr>
          <p:cNvPr id="9" name="ANNOTATION_bar_1"/>
          <p:cNvSpPr/>
          <p:nvPr/>
        </p:nvSpPr>
        <p:spPr>
          <a:xfrm>
            <a:off x="7762800" y="269748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0" name="LABEL_annotation_number_1"/>
          <p:cNvSpPr/>
          <p:nvPr/>
        </p:nvSpPr>
        <p:spPr>
          <a:xfrm>
            <a:off x="7890816" y="256032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BODY_annotation_1"/>
          <p:cNvSpPr/>
          <p:nvPr/>
        </p:nvSpPr>
        <p:spPr>
          <a:xfrm>
            <a:off x="8265720" y="256032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文字减少等于参与下降吗</a:t>
            </a:r>
            <a:endParaRPr lang="en-US" sz="1800" dirty="0"/>
          </a:p>
        </p:txBody>
      </p:sp>
      <p:sp>
        <p:nvSpPr>
          <p:cNvPr id="12" name="ANNOTATION_bar_2"/>
          <p:cNvSpPr/>
          <p:nvPr/>
        </p:nvSpPr>
        <p:spPr>
          <a:xfrm>
            <a:off x="7762800" y="4014216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3" name="LABEL_annotation_number_2"/>
          <p:cNvSpPr/>
          <p:nvPr/>
        </p:nvSpPr>
        <p:spPr>
          <a:xfrm>
            <a:off x="7890816" y="3877056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BODY_annotation_2"/>
          <p:cNvSpPr/>
          <p:nvPr/>
        </p:nvSpPr>
        <p:spPr>
          <a:xfrm>
            <a:off x="8265720" y="3877056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回复更多就讨论更好吗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作者原本期待什么？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—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LABEL_h1"/>
          <p:cNvSpPr/>
          <p:nvPr/>
        </p:nvSpPr>
        <p:spPr>
          <a:xfrm>
            <a:off x="540000" y="1435608"/>
            <a:ext cx="666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反应功能的预期</a:t>
            </a:r>
            <a:endParaRPr lang="en-US" sz="1800" dirty="0"/>
          </a:p>
        </p:txBody>
      </p:sp>
      <p:pic>
        <p:nvPicPr>
          <p:cNvPr id="7" name="EVIDENCE_H1" descr="/workspace/outputs/political-discussion/assets/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1829142"/>
            <a:ext cx="6667200" cy="1553797"/>
          </a:xfrm>
          <a:prstGeom prst="rect">
            <a:avLst/>
          </a:prstGeom>
        </p:spPr>
      </p:pic>
      <p:sp>
        <p:nvSpPr>
          <p:cNvPr id="8" name="LABEL_h2"/>
          <p:cNvSpPr/>
          <p:nvPr/>
        </p:nvSpPr>
        <p:spPr>
          <a:xfrm>
            <a:off x="540000" y="3730752"/>
            <a:ext cx="666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回复功能的预期</a:t>
            </a:r>
            <a:endParaRPr lang="en-US" sz="1800" dirty="0"/>
          </a:p>
        </p:txBody>
      </p:sp>
      <p:pic>
        <p:nvPicPr>
          <p:cNvPr id="9" name="EVIDENCE_H2" descr="/workspace/outputs/political-discussion/assets/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124695"/>
            <a:ext cx="6667200" cy="1525546"/>
          </a:xfrm>
          <a:prstGeom prst="rect">
            <a:avLst/>
          </a:prstGeom>
        </p:spPr>
      </p:pic>
      <p:sp>
        <p:nvSpPr>
          <p:cNvPr id="10" name="CAPTION_TIME"/>
          <p:cNvSpPr/>
          <p:nvPr/>
        </p:nvSpPr>
        <p:spPr>
          <a:xfrm>
            <a:off x="540000" y="5843016"/>
            <a:ext cx="666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理论起点：互动媒体效果理论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。</a:t>
            </a:r>
            <a:endParaRPr lang="en-US" sz="1300" dirty="0"/>
          </a:p>
        </p:txBody>
      </p:sp>
      <p:sp>
        <p:nvSpPr>
          <p:cNvPr id="11" name="ANNOTATION_bar_1"/>
          <p:cNvSpPr/>
          <p:nvPr/>
        </p:nvSpPr>
        <p:spPr>
          <a:xfrm>
            <a:off x="7762800" y="2130552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2" name="LABEL_annotation_number_1"/>
          <p:cNvSpPr/>
          <p:nvPr/>
        </p:nvSpPr>
        <p:spPr>
          <a:xfrm>
            <a:off x="7890816" y="1993392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BODY_annotation_1"/>
          <p:cNvSpPr/>
          <p:nvPr/>
        </p:nvSpPr>
        <p:spPr>
          <a:xfrm>
            <a:off x="8265720" y="1993392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反应预期：减少参与和互动</a:t>
            </a:r>
            <a:endParaRPr lang="en-US" sz="1800" dirty="0"/>
          </a:p>
        </p:txBody>
      </p:sp>
      <p:sp>
        <p:nvSpPr>
          <p:cNvPr id="14" name="ANNOTATION_bar_2"/>
          <p:cNvSpPr/>
          <p:nvPr/>
        </p:nvSpPr>
        <p:spPr>
          <a:xfrm>
            <a:off x="7762800" y="3255264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5" name="LABEL_annotation_number_2"/>
          <p:cNvSpPr/>
          <p:nvPr/>
        </p:nvSpPr>
        <p:spPr>
          <a:xfrm>
            <a:off x="7890816" y="3118104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BODY_annotation_2"/>
          <p:cNvSpPr/>
          <p:nvPr/>
        </p:nvSpPr>
        <p:spPr>
          <a:xfrm>
            <a:off x="8265720" y="3118104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回复预期：增加参与和互动</a:t>
            </a:r>
            <a:endParaRPr lang="en-US" sz="1800" dirty="0"/>
          </a:p>
        </p:txBody>
      </p:sp>
      <p:sp>
        <p:nvSpPr>
          <p:cNvPr id="17" name="ANNOTATION_bar_3"/>
          <p:cNvSpPr/>
          <p:nvPr/>
        </p:nvSpPr>
        <p:spPr>
          <a:xfrm>
            <a:off x="7762800" y="4379976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8" name="LABEL_annotation_number_3"/>
          <p:cNvSpPr/>
          <p:nvPr/>
        </p:nvSpPr>
        <p:spPr>
          <a:xfrm>
            <a:off x="7890816" y="4242816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BODY_annotation_3"/>
          <p:cNvSpPr/>
          <p:nvPr/>
        </p:nvSpPr>
        <p:spPr>
          <a:xfrm>
            <a:off x="8265720" y="4242816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多样性不预设方向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怎样分离按钮的影响？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，表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及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—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LABEL_factorial_features"/>
          <p:cNvSpPr/>
          <p:nvPr/>
        </p:nvSpPr>
        <p:spPr>
          <a:xfrm>
            <a:off x="540000" y="1536192"/>
            <a:ext cx="666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反应：有／无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回复：有／无</a:t>
            </a:r>
            <a:endParaRPr lang="en-US" sz="1600" dirty="0"/>
          </a:p>
        </p:txBody>
      </p:sp>
      <p:pic>
        <p:nvPicPr>
          <p:cNvPr id="7" name="EVIDENCE_table1_original" descr="/workspace/outputs/political-discussion/assets/tab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2004429"/>
            <a:ext cx="6667200" cy="2876574"/>
          </a:xfrm>
          <a:prstGeom prst="rect">
            <a:avLst/>
          </a:prstGeom>
        </p:spPr>
      </p:pic>
      <p:sp>
        <p:nvSpPr>
          <p:cNvPr id="8" name="BODY_sample_scope"/>
          <p:cNvSpPr/>
          <p:nvPr/>
        </p:nvSpPr>
        <p:spPr>
          <a:xfrm>
            <a:off x="540000" y="5321808"/>
            <a:ext cx="666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进入研究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1,643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人；主要行为分析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1,370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人。</a:t>
            </a:r>
            <a:endParaRPr lang="en-US" sz="1800" dirty="0"/>
          </a:p>
        </p:txBody>
      </p:sp>
      <p:sp>
        <p:nvSpPr>
          <p:cNvPr id="9" name="ANNOTATION_bar_1"/>
          <p:cNvSpPr/>
          <p:nvPr/>
        </p:nvSpPr>
        <p:spPr>
          <a:xfrm>
            <a:off x="7762800" y="219456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0" name="LABEL_annotation_number_1"/>
          <p:cNvSpPr/>
          <p:nvPr/>
        </p:nvSpPr>
        <p:spPr>
          <a:xfrm>
            <a:off x="7890816" y="205740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BODY_annotation_1"/>
          <p:cNvSpPr/>
          <p:nvPr/>
        </p:nvSpPr>
        <p:spPr>
          <a:xfrm>
            <a:off x="8265720" y="205740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聊天室层面随机分配</a:t>
            </a:r>
            <a:endParaRPr lang="en-US" sz="1800" dirty="0"/>
          </a:p>
        </p:txBody>
      </p:sp>
      <p:sp>
        <p:nvSpPr>
          <p:cNvPr id="12" name="ANNOTATION_bar_2"/>
          <p:cNvSpPr/>
          <p:nvPr/>
        </p:nvSpPr>
        <p:spPr>
          <a:xfrm>
            <a:off x="7762800" y="3310128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3" name="LABEL_annotation_number_2"/>
          <p:cNvSpPr/>
          <p:nvPr/>
        </p:nvSpPr>
        <p:spPr>
          <a:xfrm>
            <a:off x="7890816" y="317296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BODY_annotation_2"/>
          <p:cNvSpPr/>
          <p:nvPr/>
        </p:nvSpPr>
        <p:spPr>
          <a:xfrm>
            <a:off x="8265720" y="3172968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四组都可发送普通文字</a:t>
            </a:r>
            <a:endParaRPr lang="en-US" sz="1800" dirty="0"/>
          </a:p>
        </p:txBody>
      </p:sp>
      <p:sp>
        <p:nvSpPr>
          <p:cNvPr id="15" name="ANNOTATION_bar_3"/>
          <p:cNvSpPr/>
          <p:nvPr/>
        </p:nvSpPr>
        <p:spPr>
          <a:xfrm>
            <a:off x="7762800" y="4425696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6" name="LABEL_annotation_number_3"/>
          <p:cNvSpPr/>
          <p:nvPr/>
        </p:nvSpPr>
        <p:spPr>
          <a:xfrm>
            <a:off x="7890816" y="4288536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BODY_annotation_3"/>
          <p:cNvSpPr/>
          <p:nvPr/>
        </p:nvSpPr>
        <p:spPr>
          <a:xfrm>
            <a:off x="8265720" y="4288536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主要分析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1370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名发言者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怎样把讨论变成可观察的指标？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依据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—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页整理。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_representative_measu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000" y="1901952"/>
          <a:ext cx="6667200" cy="3291840"/>
        </p:xfrm>
        <a:graphic>
          <a:graphicData uri="http://schemas.openxmlformats.org/drawingml/2006/table">
            <a:tbl>
              <a:tblPr/>
              <a:tblGrid>
                <a:gridCol w="960120"/>
                <a:gridCol w="2331720"/>
                <a:gridCol w="33753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维度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代表指标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直接观察什么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消息数量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每人发送多少条文字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参与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消息长度中位数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典型一条消息有多长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互动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回复链最大深度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连续回应延伸多少层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立场多样性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表达立场的分布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NOTATION_bar_1"/>
          <p:cNvSpPr/>
          <p:nvPr/>
        </p:nvSpPr>
        <p:spPr>
          <a:xfrm>
            <a:off x="7762800" y="2258568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8" name="LABEL_annotation_number_1"/>
          <p:cNvSpPr/>
          <p:nvPr/>
        </p:nvSpPr>
        <p:spPr>
          <a:xfrm>
            <a:off x="7890816" y="212140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BODY_annotation_1"/>
          <p:cNvSpPr/>
          <p:nvPr/>
        </p:nvSpPr>
        <p:spPr>
          <a:xfrm>
            <a:off x="8265720" y="2121408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参与：消息数量与长度</a:t>
            </a:r>
            <a:endParaRPr lang="en-US" sz="1800" dirty="0"/>
          </a:p>
        </p:txBody>
      </p:sp>
      <p:sp>
        <p:nvSpPr>
          <p:cNvPr id="10" name="ANNOTATION_bar_2"/>
          <p:cNvSpPr/>
          <p:nvPr/>
        </p:nvSpPr>
        <p:spPr>
          <a:xfrm>
            <a:off x="7762800" y="3374136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1" name="LABEL_annotation_number_2"/>
          <p:cNvSpPr/>
          <p:nvPr/>
        </p:nvSpPr>
        <p:spPr>
          <a:xfrm>
            <a:off x="7890816" y="3236976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BODY_annotation_2"/>
          <p:cNvSpPr/>
          <p:nvPr/>
        </p:nvSpPr>
        <p:spPr>
          <a:xfrm>
            <a:off x="8265720" y="3236976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互动：回复链结构深度</a:t>
            </a:r>
            <a:endParaRPr lang="en-US" sz="1800" dirty="0"/>
          </a:p>
        </p:txBody>
      </p:sp>
      <p:sp>
        <p:nvSpPr>
          <p:cNvPr id="13" name="ANNOTATION_bar_3"/>
          <p:cNvSpPr/>
          <p:nvPr/>
        </p:nvSpPr>
        <p:spPr>
          <a:xfrm>
            <a:off x="7762800" y="4489704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4" name="LABEL_annotation_number_3"/>
          <p:cNvSpPr/>
          <p:nvPr/>
        </p:nvSpPr>
        <p:spPr>
          <a:xfrm>
            <a:off x="7890816" y="4352544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BODY_annotation_3"/>
          <p:cNvSpPr/>
          <p:nvPr/>
        </p:nvSpPr>
        <p:spPr>
          <a:xfrm>
            <a:off x="8265720" y="4352544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多样性：不同立场的分布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反应功能：文字更少，单条更长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，图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用户层面节选，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LABEL_volume_cn"/>
          <p:cNvSpPr/>
          <p:nvPr/>
        </p:nvSpPr>
        <p:spPr>
          <a:xfrm>
            <a:off x="1216656" y="13533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消息数量</a:t>
            </a:r>
            <a:endParaRPr lang="en-US" sz="1700" dirty="0"/>
          </a:p>
        </p:txBody>
      </p:sp>
      <p:sp>
        <p:nvSpPr>
          <p:cNvPr id="7" name="LABEL_elaboration_cn"/>
          <p:cNvSpPr/>
          <p:nvPr/>
        </p:nvSpPr>
        <p:spPr>
          <a:xfrm>
            <a:off x="4380480" y="13533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消息长度中位数</a:t>
            </a:r>
            <a:endParaRPr lang="en-US" sz="1700" dirty="0"/>
          </a:p>
        </p:txBody>
      </p:sp>
      <p:pic>
        <p:nvPicPr>
          <p:cNvPr id="8" name="EVIDENCE_figure2_user_panels" descr="/workspace/outputs/political-discussion/assets/figure2-user-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1803143"/>
            <a:ext cx="6667200" cy="3937513"/>
          </a:xfrm>
          <a:prstGeom prst="rect">
            <a:avLst/>
          </a:prstGeom>
        </p:spPr>
      </p:pic>
      <p:sp>
        <p:nvSpPr>
          <p:cNvPr id="9" name="CAPTION_figure2_statistical_note"/>
          <p:cNvSpPr/>
          <p:nvPr/>
        </p:nvSpPr>
        <p:spPr>
          <a:xfrm>
            <a:off x="540000" y="5833872"/>
            <a:ext cx="66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误差线：±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；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p &lt; .1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p &lt; .05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** p &lt; .01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*** p &lt; .001</a:t>
            </a:r>
            <a:endParaRPr lang="en-US" sz="1100" dirty="0"/>
          </a:p>
        </p:txBody>
      </p:sp>
      <p:sp>
        <p:nvSpPr>
          <p:cNvPr id="10" name="ANNOTATION_bar_1"/>
          <p:cNvSpPr/>
          <p:nvPr/>
        </p:nvSpPr>
        <p:spPr>
          <a:xfrm>
            <a:off x="7762800" y="210312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1" name="LABEL_annotation_number_1"/>
          <p:cNvSpPr/>
          <p:nvPr/>
        </p:nvSpPr>
        <p:spPr>
          <a:xfrm>
            <a:off x="7890816" y="196596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BODY_annotation_1"/>
          <p:cNvSpPr/>
          <p:nvPr/>
        </p:nvSpPr>
        <p:spPr>
          <a:xfrm>
            <a:off x="8265720" y="196596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绿色：反应功能的效应</a:t>
            </a:r>
            <a:endParaRPr lang="en-US" sz="1800" dirty="0"/>
          </a:p>
        </p:txBody>
      </p:sp>
      <p:sp>
        <p:nvSpPr>
          <p:cNvPr id="13" name="ANNOTATION_bar_2"/>
          <p:cNvSpPr/>
          <p:nvPr/>
        </p:nvSpPr>
        <p:spPr>
          <a:xfrm>
            <a:off x="7762800" y="3246120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4" name="LABEL_annotation_number_2"/>
          <p:cNvSpPr/>
          <p:nvPr/>
        </p:nvSpPr>
        <p:spPr>
          <a:xfrm>
            <a:off x="7890816" y="310896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BODY_annotation_2"/>
          <p:cNvSpPr/>
          <p:nvPr/>
        </p:nvSpPr>
        <p:spPr>
          <a:xfrm>
            <a:off x="8265720" y="310896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文字更少，单条更长</a:t>
            </a:r>
            <a:endParaRPr lang="en-US" sz="1800" dirty="0"/>
          </a:p>
        </p:txBody>
      </p:sp>
      <p:sp>
        <p:nvSpPr>
          <p:cNvPr id="16" name="ANNOTATION_bar_3"/>
          <p:cNvSpPr/>
          <p:nvPr/>
        </p:nvSpPr>
        <p:spPr>
          <a:xfrm>
            <a:off x="7762800" y="438912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7" name="LABEL_annotation_number_3"/>
          <p:cNvSpPr/>
          <p:nvPr/>
        </p:nvSpPr>
        <p:spPr>
          <a:xfrm>
            <a:off x="7890816" y="425196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BODY_annotation_3"/>
          <p:cNvSpPr/>
          <p:nvPr/>
        </p:nvSpPr>
        <p:spPr>
          <a:xfrm>
            <a:off x="8265720" y="425196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替代机制尚未直接检验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为什么作者把结果称为权衡？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依据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，表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及正文结果整理；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、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、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CAPTION_table3_synthesized"/>
          <p:cNvSpPr/>
          <p:nvPr/>
        </p:nvSpPr>
        <p:spPr>
          <a:xfrm>
            <a:off x="540000" y="1499616"/>
            <a:ext cx="666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依据原文表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及正文整理</a:t>
            </a:r>
            <a:endParaRPr lang="en-US" sz="1400" dirty="0"/>
          </a:p>
        </p:txBody>
      </p:sp>
      <p:graphicFrame>
        <p:nvGraphicFramePr>
          <p:cNvPr id="8" name="TABLE_table3_chinese_summa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000" y="1993392"/>
          <a:ext cx="6667200" cy="3218688"/>
        </p:xfrm>
        <a:graphic>
          <a:graphicData uri="http://schemas.openxmlformats.org/drawingml/2006/table">
            <a:tbl>
              <a:tblPr/>
              <a:tblGrid>
                <a:gridCol w="1783080"/>
                <a:gridCol w="2441448"/>
                <a:gridCol w="2442672"/>
              </a:tblGrid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代表指标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有反应，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
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相对无反应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有回复，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
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相对无回复</a:t>
                      </a:r>
                      <a:endParaRPr lang="en-US" sz="16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文字消息数量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减少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未见明确增加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回复链深度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未见显著变化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增加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立场多样性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增加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D3748"/>
                          </a:solidFill>
                          <a:latin typeface="Source Han Sans CN Light" pitchFamily="34" charset="0"/>
                          <a:ea typeface="Source Han Sans CN Light" pitchFamily="34" charset="-122"/>
                          <a:cs typeface="Source Han Sans CN Light" pitchFamily="34" charset="-120"/>
                        </a:rPr>
                        <a:t>减少</a:t>
                      </a:r>
                      <a:endParaRPr lang="en-US" sz="1700" dirty="0">
                        <a:latin typeface="Source Han Sans CN Light" charset="0"/>
                        <a:ea typeface="Source Han Sans CN Light" charset="0"/>
                        <a:cs typeface="Source Han Sans CN Light" charset="0"/>
                      </a:endParaRPr>
                    </a:p>
                  </a:txBody>
                  <a:tcPr marL="139700" marR="139700" marT="152400" marB="152400" anchor="mid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NNOTATION_bar_1"/>
          <p:cNvSpPr/>
          <p:nvPr/>
        </p:nvSpPr>
        <p:spPr>
          <a:xfrm>
            <a:off x="7762800" y="214884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9" name="LABEL_annotation_number_1"/>
          <p:cNvSpPr/>
          <p:nvPr/>
        </p:nvSpPr>
        <p:spPr>
          <a:xfrm>
            <a:off x="7890816" y="2011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BODY_annotation_1"/>
          <p:cNvSpPr/>
          <p:nvPr/>
        </p:nvSpPr>
        <p:spPr>
          <a:xfrm>
            <a:off x="8265720" y="2011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回复链加深，立场多样性下降</a:t>
            </a:r>
            <a:endParaRPr lang="en-US" sz="1800" dirty="0"/>
          </a:p>
        </p:txBody>
      </p:sp>
      <p:sp>
        <p:nvSpPr>
          <p:cNvPr id="11" name="ANNOTATION_bar_2"/>
          <p:cNvSpPr/>
          <p:nvPr/>
        </p:nvSpPr>
        <p:spPr>
          <a:xfrm>
            <a:off x="7762800" y="3291840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2" name="LABEL_annotation_number_2"/>
          <p:cNvSpPr/>
          <p:nvPr/>
        </p:nvSpPr>
        <p:spPr>
          <a:xfrm>
            <a:off x="7890816" y="3154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BODY_annotation_2"/>
          <p:cNvSpPr/>
          <p:nvPr/>
        </p:nvSpPr>
        <p:spPr>
          <a:xfrm>
            <a:off x="8265720" y="3154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两种功能均存在多维权衡</a:t>
            </a:r>
            <a:endParaRPr lang="en-US" sz="1800" dirty="0"/>
          </a:p>
        </p:txBody>
      </p:sp>
      <p:sp>
        <p:nvSpPr>
          <p:cNvPr id="14" name="ANNOTATION_bar_3"/>
          <p:cNvSpPr/>
          <p:nvPr/>
        </p:nvSpPr>
        <p:spPr>
          <a:xfrm>
            <a:off x="7762800" y="443484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5" name="LABEL_annotation_number_3"/>
          <p:cNvSpPr/>
          <p:nvPr/>
        </p:nvSpPr>
        <p:spPr>
          <a:xfrm>
            <a:off x="7890816" y="4297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6" name="BODY_annotation_3"/>
          <p:cNvSpPr/>
          <p:nvPr/>
        </p:nvSpPr>
        <p:spPr>
          <a:xfrm>
            <a:off x="8265720" y="4297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结构深度不等于思想深度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这项研究增加了什么认识？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；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—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000" dirty="0"/>
          </a:p>
        </p:txBody>
      </p:sp>
      <p:pic>
        <p:nvPicPr>
          <p:cNvPr id="6" name="EVIDENCE_discussion_original" descr="/workspace/outputs/political-discussion/assets/discu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1884503"/>
            <a:ext cx="6667200" cy="1534514"/>
          </a:xfrm>
          <a:prstGeom prst="rect">
            <a:avLst/>
          </a:prstGeom>
        </p:spPr>
      </p:pic>
      <p:sp>
        <p:nvSpPr>
          <p:cNvPr id="7" name="BODY_contribution_summary"/>
          <p:cNvSpPr/>
          <p:nvPr/>
        </p:nvSpPr>
        <p:spPr>
          <a:xfrm>
            <a:off x="540000" y="4233672"/>
            <a:ext cx="666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交互功能的效果，需要分维度评价。</a:t>
            </a:r>
            <a:endParaRPr lang="en-US" sz="2200" dirty="0"/>
          </a:p>
        </p:txBody>
      </p:sp>
      <p:sp>
        <p:nvSpPr>
          <p:cNvPr id="8" name="ANNOTATION_bar_1"/>
          <p:cNvSpPr/>
          <p:nvPr/>
        </p:nvSpPr>
        <p:spPr>
          <a:xfrm>
            <a:off x="7762800" y="214884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9" name="LABEL_annotation_number_1"/>
          <p:cNvSpPr/>
          <p:nvPr/>
        </p:nvSpPr>
        <p:spPr>
          <a:xfrm>
            <a:off x="7890816" y="2011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BODY_annotation_1"/>
          <p:cNvSpPr/>
          <p:nvPr/>
        </p:nvSpPr>
        <p:spPr>
          <a:xfrm>
            <a:off x="8265720" y="2011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理论：区分多维行为后果</a:t>
            </a:r>
            <a:endParaRPr lang="en-US" sz="1800" dirty="0"/>
          </a:p>
        </p:txBody>
      </p:sp>
      <p:sp>
        <p:nvSpPr>
          <p:cNvPr id="11" name="ANNOTATION_bar_2"/>
          <p:cNvSpPr/>
          <p:nvPr/>
        </p:nvSpPr>
        <p:spPr>
          <a:xfrm>
            <a:off x="7762800" y="3291840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2" name="LABEL_annotation_number_2"/>
          <p:cNvSpPr/>
          <p:nvPr/>
        </p:nvSpPr>
        <p:spPr>
          <a:xfrm>
            <a:off x="7890816" y="3154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BODY_annotation_2"/>
          <p:cNvSpPr/>
          <p:nvPr/>
        </p:nvSpPr>
        <p:spPr>
          <a:xfrm>
            <a:off x="8265720" y="3154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设计：先明确讨论目标</a:t>
            </a:r>
            <a:endParaRPr lang="en-US" sz="1800" dirty="0"/>
          </a:p>
        </p:txBody>
      </p:sp>
      <p:sp>
        <p:nvSpPr>
          <p:cNvPr id="14" name="ANNOTATION_bar_3"/>
          <p:cNvSpPr/>
          <p:nvPr/>
        </p:nvSpPr>
        <p:spPr>
          <a:xfrm>
            <a:off x="7762800" y="443484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5" name="LABEL_annotation_number_3"/>
          <p:cNvSpPr/>
          <p:nvPr/>
        </p:nvSpPr>
        <p:spPr>
          <a:xfrm>
            <a:off x="7890816" y="4297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6" name="BODY_annotation_3"/>
          <p:cNvSpPr/>
          <p:nvPr/>
        </p:nvSpPr>
        <p:spPr>
          <a:xfrm>
            <a:off x="8265720" y="4297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单一指标不能代表整体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哪些结论需要保留？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；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页末、第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000" dirty="0"/>
          </a:p>
        </p:txBody>
      </p:sp>
      <p:pic>
        <p:nvPicPr>
          <p:cNvPr id="6" name="EVIDENCE_nonposting_scope" descr="/workspace/outputs/political-discussion/assets/limitations-sil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0" y="1756567"/>
            <a:ext cx="6667200" cy="1607507"/>
          </a:xfrm>
          <a:prstGeom prst="rect">
            <a:avLst/>
          </a:prstGeom>
        </p:spPr>
      </p:pic>
      <p:pic>
        <p:nvPicPr>
          <p:cNvPr id="7" name="EVIDENCE_preregistration_scope" descr="/workspace/outputs/political-discussion/assets/limitations-preregiste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127077"/>
            <a:ext cx="6667200" cy="1548213"/>
          </a:xfrm>
          <a:prstGeom prst="rect">
            <a:avLst/>
          </a:prstGeom>
        </p:spPr>
      </p:pic>
      <p:sp>
        <p:nvSpPr>
          <p:cNvPr id="8" name="ANNOTATION_bar_1"/>
          <p:cNvSpPr/>
          <p:nvPr/>
        </p:nvSpPr>
        <p:spPr>
          <a:xfrm>
            <a:off x="7762800" y="214884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9" name="LABEL_annotation_number_1"/>
          <p:cNvSpPr/>
          <p:nvPr/>
        </p:nvSpPr>
        <p:spPr>
          <a:xfrm>
            <a:off x="7890816" y="2011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BODY_annotation_1"/>
          <p:cNvSpPr/>
          <p:nvPr/>
        </p:nvSpPr>
        <p:spPr>
          <a:xfrm>
            <a:off x="8265720" y="2011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排除了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273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名未发言者</a:t>
            </a:r>
            <a:endParaRPr lang="en-US" sz="1800" dirty="0"/>
          </a:p>
        </p:txBody>
      </p:sp>
      <p:sp>
        <p:nvSpPr>
          <p:cNvPr id="11" name="ANNOTATION_bar_2"/>
          <p:cNvSpPr/>
          <p:nvPr/>
        </p:nvSpPr>
        <p:spPr>
          <a:xfrm>
            <a:off x="7762800" y="3291840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2" name="LABEL_annotation_number_2"/>
          <p:cNvSpPr/>
          <p:nvPr/>
        </p:nvSpPr>
        <p:spPr>
          <a:xfrm>
            <a:off x="7890816" y="3154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BODY_annotation_2"/>
          <p:cNvSpPr/>
          <p:nvPr/>
        </p:nvSpPr>
        <p:spPr>
          <a:xfrm>
            <a:off x="8265720" y="3154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组间可比性存在潜在风险</a:t>
            </a:r>
            <a:endParaRPr lang="en-US" sz="1800" dirty="0"/>
          </a:p>
        </p:txBody>
      </p:sp>
      <p:sp>
        <p:nvSpPr>
          <p:cNvPr id="14" name="ANNOTATION_bar_3"/>
          <p:cNvSpPr/>
          <p:nvPr/>
        </p:nvSpPr>
        <p:spPr>
          <a:xfrm>
            <a:off x="7762800" y="4434840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5" name="LABEL_annotation_number_3"/>
          <p:cNvSpPr/>
          <p:nvPr/>
        </p:nvSpPr>
        <p:spPr>
          <a:xfrm>
            <a:off x="7890816" y="4297680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③</a:t>
            </a:r>
            <a:endParaRPr lang="en-US" sz="1800" dirty="0"/>
          </a:p>
        </p:txBody>
      </p:sp>
      <p:sp>
        <p:nvSpPr>
          <p:cNvPr id="16" name="BODY_annotation_3"/>
          <p:cNvSpPr/>
          <p:nvPr/>
        </p:nvSpPr>
        <p:spPr>
          <a:xfrm>
            <a:off x="8265720" y="4297680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当前检验需对照预注册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3B70"/>
                </a:solidFill>
                <a:latin typeface="Source Han Serif CN" pitchFamily="34" charset="0"/>
                <a:ea typeface="Source Han Serif CN" pitchFamily="34" charset="-122"/>
                <a:cs typeface="Source Han Serif CN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200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；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第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页。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BODY_final_conclusion"/>
          <p:cNvSpPr/>
          <p:nvPr/>
        </p:nvSpPr>
        <p:spPr>
          <a:xfrm>
            <a:off x="540000" y="1874520"/>
            <a:ext cx="666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文字减少，不等于参与全面衰退；</a:t>
            </a:r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回复链加深，不等于讨论全面改善。</a:t>
            </a:r>
            <a:endParaRPr lang="en-US" sz="2400" dirty="0"/>
          </a:p>
        </p:txBody>
      </p:sp>
      <p:sp>
        <p:nvSpPr>
          <p:cNvPr id="7" name="SOURCE_short_bibliography"/>
          <p:cNvSpPr/>
          <p:nvPr/>
        </p:nvSpPr>
        <p:spPr>
          <a:xfrm>
            <a:off x="540000" y="3941064"/>
            <a:ext cx="666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Jaidka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等，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，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JCMC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。</a:t>
            </a:r>
            <a:endParaRPr lang="en-US" sz="1700" dirty="0"/>
          </a:p>
        </p:txBody>
      </p:sp>
      <p:sp>
        <p:nvSpPr>
          <p:cNvPr id="8" name="SOURCE_DOI_clickable">
            <a:hlinkClick r:id="rId1" tooltip=""/>
          </p:cNvPr>
          <p:cNvSpPr/>
          <p:nvPr/>
        </p:nvSpPr>
        <p:spPr>
          <a:xfrm>
            <a:off x="540000" y="4425696"/>
            <a:ext cx="666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u="sng" dirty="0">
                <a:solidFill>
                  <a:srgbClr val="1C3B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https://doi.org/10.1093/jcmc/zmag008</a:t>
            </a:r>
            <a:endParaRPr lang="en-US" sz="1700" dirty="0"/>
          </a:p>
        </p:txBody>
      </p:sp>
      <p:sp>
        <p:nvSpPr>
          <p:cNvPr id="9" name="FRAME_pdf_link_area"/>
          <p:cNvSpPr/>
          <p:nvPr/>
        </p:nvSpPr>
        <p:spPr>
          <a:xfrm>
            <a:off x="540000" y="5239512"/>
            <a:ext cx="18288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10" name="LABEL_pdf_link_area_independently_deletable"/>
          <p:cNvSpPr/>
          <p:nvPr/>
        </p:nvSpPr>
        <p:spPr>
          <a:xfrm>
            <a:off x="722880" y="5358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论文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PDF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F7F7F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入口</a:t>
            </a:r>
            <a:endParaRPr lang="en-US" sz="1600" dirty="0"/>
          </a:p>
        </p:txBody>
      </p:sp>
      <p:sp>
        <p:nvSpPr>
          <p:cNvPr id="11" name="ANNOTATION_bar_1"/>
          <p:cNvSpPr/>
          <p:nvPr/>
        </p:nvSpPr>
        <p:spPr>
          <a:xfrm>
            <a:off x="7762800" y="2715768"/>
            <a:ext cx="0" cy="649224"/>
          </a:xfrm>
          <a:prstGeom prst="line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none"/>
          </a:ln>
        </p:spPr>
      </p:sp>
      <p:sp>
        <p:nvSpPr>
          <p:cNvPr id="12" name="LABEL_annotation_number_1"/>
          <p:cNvSpPr/>
          <p:nvPr/>
        </p:nvSpPr>
        <p:spPr>
          <a:xfrm>
            <a:off x="7890816" y="2578608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B2226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BODY_annotation_1"/>
          <p:cNvSpPr/>
          <p:nvPr/>
        </p:nvSpPr>
        <p:spPr>
          <a:xfrm>
            <a:off x="8265720" y="2578608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先明确讨论目标</a:t>
            </a:r>
            <a:endParaRPr lang="en-US" sz="1800" dirty="0"/>
          </a:p>
        </p:txBody>
      </p:sp>
      <p:sp>
        <p:nvSpPr>
          <p:cNvPr id="14" name="ANNOTATION_bar_2"/>
          <p:cNvSpPr/>
          <p:nvPr/>
        </p:nvSpPr>
        <p:spPr>
          <a:xfrm>
            <a:off x="7762800" y="4050792"/>
            <a:ext cx="0" cy="649224"/>
          </a:xfrm>
          <a:prstGeom prst="line">
            <a:avLst/>
          </a:prstGeom>
          <a:noFill/>
          <a:ln w="25400">
            <a:solidFill>
              <a:srgbClr val="1C3B70"/>
            </a:solidFill>
            <a:prstDash val="solid"/>
            <a:headEnd type="none"/>
            <a:tailEnd type="none"/>
          </a:ln>
        </p:spPr>
      </p:sp>
      <p:sp>
        <p:nvSpPr>
          <p:cNvPr id="15" name="LABEL_annotation_number_2"/>
          <p:cNvSpPr/>
          <p:nvPr/>
        </p:nvSpPr>
        <p:spPr>
          <a:xfrm>
            <a:off x="7890816" y="3913632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1C3B70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BODY_annotation_2"/>
          <p:cNvSpPr/>
          <p:nvPr/>
        </p:nvSpPr>
        <p:spPr>
          <a:xfrm>
            <a:off x="8265720" y="3913632"/>
            <a:ext cx="3386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2D3748"/>
                </a:solidFill>
                <a:latin typeface="Source Han Sans CN Light" pitchFamily="34" charset="0"/>
                <a:ea typeface="Source Han Sans CN Light" pitchFamily="34" charset="-122"/>
                <a:cs typeface="Source Han Sans CN Light" pitchFamily="34" charset="-120"/>
              </a:rPr>
              <a:t>再看指标与适用范围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C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CN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反应与回复如何改变政治讨论？</dc:title>
  <dc:subject>Jaidka 等（2026）：反应与回复功能的多维行为后果</dc:subject>
  <dc:creator>学术文献汇报</dc:creator>
  <cp:lastModifiedBy>学术文献汇报</cp:lastModifiedBy>
  <cp:revision>1</cp:revision>
  <dcterms:created xsi:type="dcterms:W3CDTF">2026-10-27T09:39:43Z</dcterms:created>
  <dcterms:modified xsi:type="dcterms:W3CDTF">2026-10-27T09:39:43Z</dcterms:modified>
</cp:coreProperties>
</file>