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3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【口述】</a:t>
            </a:r>
          </a:p>
          <a:p>
            <a:r>
              <a:t>看这个假想群聊。左边，B、C、D各发一句简短赞同；右边，三人把赞同附着在A的原消息上，所以这里只显示一个点赞标记和数字3。</a:t>
            </a:r>
          </a:p>
          <a:p/>
          <a:p>
            <a:r>
              <a:t>文字少了，参与就一定减少了吗？如果再提供定向回复，讨论就一定更好吗？这引出本次汇报概括的总问题：两种功能是否可用，如何影响政治讨论中的参与、互动与多样性？</a:t>
            </a:r>
          </a:p>
          <a:p/>
          <a:p>
            <a:r>
              <a:t>【备查，不朗读】</a:t>
            </a:r>
          </a:p>
          <a:p>
            <a:r>
              <a:t>情境演示，非实验数据，不对应微信、微博或某一真实平台的功能清单。数字3代表来自B、C、D的三个赞；它附着于原消息，不是一条新消息。总研究问题为汇报者概括，研究问题来源为Jaidka等（2026）PDF第2—3页，不是原文RQ1或RQ2的逐字翻译。</a:t>
            </a:r>
          </a:p>
          <a:p>
            <a:r>
              <a:t>演示顺序：第一次点击依次出现B、C、D三条回应；第二次点击出现原消息右下角的点赞3；第三次点击淡入底部研究问题。动画采用简单出现／淡入，没有音效。静态预览呈现全部对象的最终状态。动画结构和导入导出保留情况已核对，尚未在PowerPoint界面实际试播。</a:t>
            </a:r>
          </a:p>
          <a:p>
            <a:r>
              <a:t>本页口述仍以约30秒为计划起点，未实际试讲。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main"/>
          <p:cNvSpPr/>
          <p:nvPr/>
        </p:nvSpPr>
        <p:spPr>
          <a:xfrm>
            <a:off x="540000" y="540000"/>
            <a:ext cx="1111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C3B70"/>
                </a:solidFill>
                <a:latin typeface="Source Han Serif CN"/>
                <a:ea typeface="Source Han Serif CN"/>
                <a:cs typeface="Source Han Serif CN"/>
              </a:rPr>
              <a:t>文字少了，参与就少了吗？</a:t>
            </a:r>
            <a:endParaRPr lang="en-US" sz="2400" dirty="0"/>
          </a:p>
        </p:txBody>
      </p:sp>
      <p:sp>
        <p:nvSpPr>
          <p:cNvPr id="3" name="TITLE_hairline"/>
          <p:cNvSpPr/>
          <p:nvPr/>
        </p:nvSpPr>
        <p:spPr>
          <a:xfrm>
            <a:off x="540000" y="1143000"/>
            <a:ext cx="11112000" cy="0"/>
          </a:xfrm>
          <a:prstGeom prst="line">
            <a:avLst/>
          </a:prstGeom>
          <a:noFill/>
          <a:ln w="6985">
            <a:solidFill>
              <a:srgbClr val="E2E8F0"/>
            </a:solidFill>
            <a:prstDash val="solid"/>
            <a:headEnd type="none"/>
            <a:tailEnd type="none"/>
          </a:ln>
        </p:spPr>
      </p:sp>
      <p:sp>
        <p:nvSpPr>
          <p:cNvPr id="4" name="SOURCE_footer"/>
          <p:cNvSpPr/>
          <p:nvPr/>
        </p:nvSpPr>
        <p:spPr>
          <a:xfrm>
            <a:off x="997199" y="6382512"/>
            <a:ext cx="10197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pPr algn="ctr" indent="0" marL="0">
              <a:lnSpc>
                <a:spcPct val="105000"/>
              </a:lnSpc>
              <a:buNone/>
            </a:pP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情境演示，非实验数据；研究问题依据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 Jaidka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等（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2026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），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PDF 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第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—</a:t>
            </a: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10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页概括。</a:t>
            </a:r>
            <a:endParaRPr lang="en-US" sz="1000" dirty="0"/>
          </a:p>
        </p:txBody>
      </p:sp>
      <p:sp>
        <p:nvSpPr>
          <p:cNvPr id="5" name="PAGE_NUMBER_footer"/>
          <p:cNvSpPr/>
          <p:nvPr/>
        </p:nvSpPr>
        <p:spPr>
          <a:xfrm>
            <a:off x="11341104" y="6519672"/>
            <a:ext cx="310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7F7F7F"/>
                </a:solidFill>
                <a:latin typeface="Times New Roman"/>
                <a:ea typeface="Times New Roman"/>
                <a:cs typeface="Times New Roman"/>
              </a:rPr>
              <a:t>02</a:t>
            </a:r>
            <a:endParaRPr lang="en-US" sz="1000" dirty="0"/>
          </a:p>
        </p:txBody>
      </p:sp>
      <p:sp>
        <p:nvSpPr>
          <p:cNvPr id="6" name="LABEL_text_mode"/>
          <p:cNvSpPr txBox="1"/>
          <p:nvPr/>
        </p:nvSpPr>
        <p:spPr>
          <a:xfrm>
            <a:off x="540000" y="1380744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逐条文字回应</a:t>
            </a:r>
          </a:p>
        </p:txBody>
      </p:sp>
      <p:sp>
        <p:nvSpPr>
          <p:cNvPr id="7" name="LABEL_reaction_mode"/>
          <p:cNvSpPr txBox="1"/>
          <p:nvPr/>
        </p:nvSpPr>
        <p:spPr>
          <a:xfrm>
            <a:off x="6400800" y="1380744"/>
            <a:ext cx="5212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C3B70"/>
                </a:solidFill>
                <a:latin typeface="Source Han Sans CN Light"/>
                <a:ea typeface="Source Han Sans CN Light"/>
                <a:cs typeface="Source Han Sans CN Light"/>
              </a:rPr>
              <a:t>附着快捷反应</a:t>
            </a:r>
          </a:p>
        </p:txBody>
      </p:sp>
      <p:grpSp>
        <p:nvGrpSpPr>
          <p:cNvPr id="8" name="GROUP_left_original"/>
          <p:cNvGrpSpPr/>
          <p:nvPr/>
        </p:nvGrpSpPr>
        <p:grpSpPr>
          <a:xfrm>
            <a:off x="540000" y="1938528"/>
            <a:ext cx="5212080" cy="859536"/>
            <a:chOff x="540000" y="1938528"/>
            <a:chExt cx="5212080" cy="859536"/>
          </a:xfrm>
        </p:grpSpPr>
        <p:sp>
          <p:nvSpPr>
            <p:cNvPr id="9" name="AVATAR_A"/>
            <p:cNvSpPr/>
            <p:nvPr/>
          </p:nvSpPr>
          <p:spPr>
            <a:xfrm>
              <a:off x="540000" y="2029968"/>
              <a:ext cx="402336" cy="402336"/>
            </a:xfrm>
            <a:prstGeom prst="ellipse">
              <a:avLst/>
            </a:prstGeom>
            <a:solidFill>
              <a:srgbClr val="EDF1F6"/>
            </a:solidFill>
            <a:ln w="762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LABEL_avatar_A"/>
            <p:cNvSpPr txBox="1"/>
            <p:nvPr/>
          </p:nvSpPr>
          <p:spPr>
            <a:xfrm>
              <a:off x="540000" y="2029968"/>
              <a:ext cx="402336" cy="40233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sp>
          <p:nvSpPr>
            <p:cNvPr id="11" name="BUBBLE_GROUP_left_original"/>
            <p:cNvSpPr/>
            <p:nvPr/>
          </p:nvSpPr>
          <p:spPr>
            <a:xfrm>
              <a:off x="1106928" y="1938528"/>
              <a:ext cx="4645152" cy="859536"/>
            </a:xfrm>
            <a:prstGeom prst="roundRect">
              <a:avLst>
                <a:gd name="adj" fmla="val 14000"/>
              </a:avLst>
            </a:prstGeom>
            <a:solidFill>
              <a:srgbClr val="F5F7FA"/>
            </a:solidFill>
            <a:ln w="889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BODY_GROUP_left_original"/>
            <p:cNvSpPr txBox="1"/>
            <p:nvPr/>
          </p:nvSpPr>
          <p:spPr>
            <a:xfrm>
              <a:off x="1289808" y="2048256"/>
              <a:ext cx="4279392" cy="64008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我认为平台应该删除冒犯性内容。</a:t>
              </a:r>
            </a:p>
          </p:txBody>
        </p:sp>
      </p:grpSp>
      <p:grpSp>
        <p:nvGrpSpPr>
          <p:cNvPr id="13" name="GROUP_reply_B"/>
          <p:cNvGrpSpPr/>
          <p:nvPr/>
        </p:nvGrpSpPr>
        <p:grpSpPr>
          <a:xfrm>
            <a:off x="704592" y="3081528"/>
            <a:ext cx="1737360" cy="521207"/>
            <a:chOff x="704592" y="3081528"/>
            <a:chExt cx="1737360" cy="521207"/>
          </a:xfrm>
        </p:grpSpPr>
        <p:sp>
          <p:nvSpPr>
            <p:cNvPr id="14" name="AVATAR_B"/>
            <p:cNvSpPr/>
            <p:nvPr/>
          </p:nvSpPr>
          <p:spPr>
            <a:xfrm>
              <a:off x="704592" y="3172968"/>
              <a:ext cx="402336" cy="402336"/>
            </a:xfrm>
            <a:prstGeom prst="ellipse">
              <a:avLst/>
            </a:prstGeom>
            <a:solidFill>
              <a:srgbClr val="EDF1F6"/>
            </a:solidFill>
            <a:ln w="762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LABEL_avatar_B"/>
            <p:cNvSpPr txBox="1"/>
            <p:nvPr/>
          </p:nvSpPr>
          <p:spPr>
            <a:xfrm>
              <a:off x="704592" y="3172968"/>
              <a:ext cx="402336" cy="40233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B</a:t>
              </a:r>
            </a:p>
          </p:txBody>
        </p:sp>
        <p:sp>
          <p:nvSpPr>
            <p:cNvPr id="16" name="BUBBLE_GROUP_reply_B"/>
            <p:cNvSpPr/>
            <p:nvPr/>
          </p:nvSpPr>
          <p:spPr>
            <a:xfrm>
              <a:off x="1271520" y="3081528"/>
              <a:ext cx="1170432" cy="521207"/>
            </a:xfrm>
            <a:prstGeom prst="roundRect">
              <a:avLst>
                <a:gd name="adj" fmla="val 14000"/>
              </a:avLst>
            </a:prstGeom>
            <a:solidFill>
              <a:srgbClr val="F5F7FA"/>
            </a:solidFill>
            <a:ln w="889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BODY_GROUP_reply_B"/>
            <p:cNvSpPr txBox="1"/>
            <p:nvPr/>
          </p:nvSpPr>
          <p:spPr>
            <a:xfrm>
              <a:off x="1454400" y="3191256"/>
              <a:ext cx="804672" cy="301751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同意</a:t>
              </a:r>
            </a:p>
          </p:txBody>
        </p:sp>
      </p:grpSp>
      <p:grpSp>
        <p:nvGrpSpPr>
          <p:cNvPr id="18" name="GROUP_reply_C"/>
          <p:cNvGrpSpPr/>
          <p:nvPr/>
        </p:nvGrpSpPr>
        <p:grpSpPr>
          <a:xfrm>
            <a:off x="704592" y="3694176"/>
            <a:ext cx="1737360" cy="521207"/>
            <a:chOff x="704592" y="3694176"/>
            <a:chExt cx="1737360" cy="521207"/>
          </a:xfrm>
        </p:grpSpPr>
        <p:sp>
          <p:nvSpPr>
            <p:cNvPr id="19" name="AVATAR_C"/>
            <p:cNvSpPr/>
            <p:nvPr/>
          </p:nvSpPr>
          <p:spPr>
            <a:xfrm>
              <a:off x="704592" y="3785615"/>
              <a:ext cx="402336" cy="402336"/>
            </a:xfrm>
            <a:prstGeom prst="ellipse">
              <a:avLst/>
            </a:prstGeom>
            <a:solidFill>
              <a:srgbClr val="EDF1F6"/>
            </a:solidFill>
            <a:ln w="762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LABEL_avatar_C"/>
            <p:cNvSpPr txBox="1"/>
            <p:nvPr/>
          </p:nvSpPr>
          <p:spPr>
            <a:xfrm>
              <a:off x="704592" y="3785615"/>
              <a:ext cx="402336" cy="40233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C</a:t>
              </a:r>
            </a:p>
          </p:txBody>
        </p:sp>
        <p:sp>
          <p:nvSpPr>
            <p:cNvPr id="21" name="BUBBLE_GROUP_reply_C"/>
            <p:cNvSpPr/>
            <p:nvPr/>
          </p:nvSpPr>
          <p:spPr>
            <a:xfrm>
              <a:off x="1271520" y="3694176"/>
              <a:ext cx="1170432" cy="521207"/>
            </a:xfrm>
            <a:prstGeom prst="roundRect">
              <a:avLst>
                <a:gd name="adj" fmla="val 14000"/>
              </a:avLst>
            </a:prstGeom>
            <a:solidFill>
              <a:srgbClr val="F5F7FA"/>
            </a:solidFill>
            <a:ln w="889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BODY_GROUP_reply_C"/>
            <p:cNvSpPr txBox="1"/>
            <p:nvPr/>
          </p:nvSpPr>
          <p:spPr>
            <a:xfrm>
              <a:off x="1454400" y="3803904"/>
              <a:ext cx="804672" cy="301751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赞同</a:t>
              </a:r>
            </a:p>
          </p:txBody>
        </p:sp>
      </p:grpSp>
      <p:grpSp>
        <p:nvGrpSpPr>
          <p:cNvPr id="23" name="GROUP_reply_D"/>
          <p:cNvGrpSpPr/>
          <p:nvPr/>
        </p:nvGrpSpPr>
        <p:grpSpPr>
          <a:xfrm>
            <a:off x="704592" y="4306824"/>
            <a:ext cx="2505456" cy="521207"/>
            <a:chOff x="704592" y="4306824"/>
            <a:chExt cx="2505456" cy="521207"/>
          </a:xfrm>
        </p:grpSpPr>
        <p:sp>
          <p:nvSpPr>
            <p:cNvPr id="24" name="AVATAR_D"/>
            <p:cNvSpPr/>
            <p:nvPr/>
          </p:nvSpPr>
          <p:spPr>
            <a:xfrm>
              <a:off x="704592" y="4398264"/>
              <a:ext cx="402336" cy="402336"/>
            </a:xfrm>
            <a:prstGeom prst="ellipse">
              <a:avLst/>
            </a:prstGeom>
            <a:solidFill>
              <a:srgbClr val="EDF1F6"/>
            </a:solidFill>
            <a:ln w="762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LABEL_avatar_D"/>
            <p:cNvSpPr txBox="1"/>
            <p:nvPr/>
          </p:nvSpPr>
          <p:spPr>
            <a:xfrm>
              <a:off x="704592" y="4398264"/>
              <a:ext cx="402336" cy="40233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D</a:t>
              </a:r>
            </a:p>
          </p:txBody>
        </p:sp>
        <p:sp>
          <p:nvSpPr>
            <p:cNvPr id="26" name="BUBBLE_GROUP_reply_D"/>
            <p:cNvSpPr/>
            <p:nvPr/>
          </p:nvSpPr>
          <p:spPr>
            <a:xfrm>
              <a:off x="1271520" y="4306824"/>
              <a:ext cx="1938528" cy="521207"/>
            </a:xfrm>
            <a:prstGeom prst="roundRect">
              <a:avLst>
                <a:gd name="adj" fmla="val 14000"/>
              </a:avLst>
            </a:prstGeom>
            <a:solidFill>
              <a:srgbClr val="F5F7FA"/>
            </a:solidFill>
            <a:ln w="889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BODY_GROUP_reply_D"/>
            <p:cNvSpPr txBox="1"/>
            <p:nvPr/>
          </p:nvSpPr>
          <p:spPr>
            <a:xfrm>
              <a:off x="1454400" y="4416552"/>
              <a:ext cx="1572768" cy="301751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我也这么想</a:t>
              </a:r>
            </a:p>
          </p:txBody>
        </p:sp>
      </p:grpSp>
      <p:grpSp>
        <p:nvGrpSpPr>
          <p:cNvPr id="28" name="GROUP_right_original"/>
          <p:cNvGrpSpPr/>
          <p:nvPr/>
        </p:nvGrpSpPr>
        <p:grpSpPr>
          <a:xfrm>
            <a:off x="6400800" y="1938528"/>
            <a:ext cx="5212080" cy="987552"/>
            <a:chOff x="6400800" y="1938528"/>
            <a:chExt cx="5212080" cy="987552"/>
          </a:xfrm>
        </p:grpSpPr>
        <p:sp>
          <p:nvSpPr>
            <p:cNvPr id="29" name="AVATAR_A"/>
            <p:cNvSpPr/>
            <p:nvPr/>
          </p:nvSpPr>
          <p:spPr>
            <a:xfrm>
              <a:off x="6400800" y="2029968"/>
              <a:ext cx="402336" cy="402336"/>
            </a:xfrm>
            <a:prstGeom prst="ellipse">
              <a:avLst/>
            </a:prstGeom>
            <a:solidFill>
              <a:srgbClr val="EDF1F6"/>
            </a:solidFill>
            <a:ln w="762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LABEL_avatar_A"/>
            <p:cNvSpPr txBox="1"/>
            <p:nvPr/>
          </p:nvSpPr>
          <p:spPr>
            <a:xfrm>
              <a:off x="6400800" y="2029968"/>
              <a:ext cx="402336" cy="402336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A</a:t>
              </a:r>
            </a:p>
          </p:txBody>
        </p:sp>
        <p:sp>
          <p:nvSpPr>
            <p:cNvPr id="31" name="BUBBLE_GROUP_right_original"/>
            <p:cNvSpPr/>
            <p:nvPr/>
          </p:nvSpPr>
          <p:spPr>
            <a:xfrm>
              <a:off x="6967728" y="1938528"/>
              <a:ext cx="4645152" cy="987552"/>
            </a:xfrm>
            <a:prstGeom prst="roundRect">
              <a:avLst>
                <a:gd name="adj" fmla="val 14000"/>
              </a:avLst>
            </a:prstGeom>
            <a:solidFill>
              <a:srgbClr val="F5F7FA"/>
            </a:solidFill>
            <a:ln w="8890">
              <a:solidFill>
                <a:srgbClr val="E2E8F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BODY_GROUP_right_original"/>
            <p:cNvSpPr txBox="1"/>
            <p:nvPr/>
          </p:nvSpPr>
          <p:spPr>
            <a:xfrm>
              <a:off x="7150608" y="2048256"/>
              <a:ext cx="4279392" cy="64008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800" b="0">
                  <a:solidFill>
                    <a:srgbClr val="2D3748"/>
                  </a:solidFill>
                  <a:latin typeface="Source Han Sans CN Light"/>
                  <a:ea typeface="Source Han Sans CN Light"/>
                  <a:cs typeface="Source Han Sans CN Light"/>
                </a:rPr>
                <a:t>我认为平台应该删除冒犯性内容。</a:t>
              </a:r>
            </a:p>
          </p:txBody>
        </p:sp>
      </p:grpSp>
      <p:grpSp>
        <p:nvGrpSpPr>
          <p:cNvPr id="33" name="GROUP_attached_reaction"/>
          <p:cNvGrpSpPr/>
          <p:nvPr/>
        </p:nvGrpSpPr>
        <p:grpSpPr>
          <a:xfrm>
            <a:off x="10543032" y="2688336"/>
            <a:ext cx="786384" cy="393192"/>
            <a:chOff x="10543032" y="2688336"/>
            <a:chExt cx="786384" cy="393192"/>
          </a:xfrm>
        </p:grpSpPr>
        <p:sp>
          <p:nvSpPr>
            <p:cNvPr id="34" name="REACTION_attached_badge"/>
            <p:cNvSpPr/>
            <p:nvPr/>
          </p:nvSpPr>
          <p:spPr>
            <a:xfrm>
              <a:off x="10543032" y="2688336"/>
              <a:ext cx="786384" cy="393192"/>
            </a:xfrm>
            <a:prstGeom prst="roundRect">
              <a:avLst>
                <a:gd name="adj" fmla="val 24000"/>
              </a:avLst>
            </a:prstGeom>
            <a:solidFill>
              <a:srgbClr val="EAF1F8"/>
            </a:solidFill>
            <a:ln w="8890">
              <a:solidFill>
                <a:srgbClr val="CCD9E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ICON_native_thumbs_up"/>
            <p:cNvSpPr/>
            <p:nvPr/>
          </p:nvSpPr>
          <p:spPr>
            <a:xfrm>
              <a:off x="10652760" y="2743200"/>
              <a:ext cx="228600" cy="265176"/>
            </a:xfrm>
            <a:custGeom>
              <a:avLst/>
              <a:gdLst/>
              <a:ahLst/>
              <a:cxnLst/>
              <a:rect l="0" t="0" r="w" b="h"/>
              <a:pathLst>
                <a:path w="24000" h="24000">
                  <a:moveTo>
                    <a:pt x="7000" y="10000"/>
                  </a:moveTo>
                  <a:lnTo>
                    <a:pt x="10500" y="3000"/>
                  </a:lnTo>
                  <a:cubicBezTo>
                    <a:pt x="11100" y="1200"/>
                    <a:pt x="13000" y="1500"/>
                    <a:pt x="13700" y="2800"/>
                  </a:cubicBezTo>
                  <a:cubicBezTo>
                    <a:pt x="14300" y="4200"/>
                    <a:pt x="13400" y="7800"/>
                    <a:pt x="13000" y="10000"/>
                  </a:cubicBezTo>
                  <a:lnTo>
                    <a:pt x="19800" y="10000"/>
                  </a:lnTo>
                  <a:cubicBezTo>
                    <a:pt x="21400" y="10000"/>
                    <a:pt x="22300" y="11300"/>
                    <a:pt x="21800" y="12900"/>
                  </a:cubicBezTo>
                  <a:lnTo>
                    <a:pt x="19700" y="20200"/>
                  </a:lnTo>
                  <a:cubicBezTo>
                    <a:pt x="19400" y="21300"/>
                    <a:pt x="18800" y="22000"/>
                    <a:pt x="17500" y="22000"/>
                  </a:cubicBezTo>
                  <a:lnTo>
                    <a:pt x="7000" y="22000"/>
                  </a:lnTo>
                  <a:lnTo>
                    <a:pt x="7000" y="10000"/>
                  </a:lnTo>
                  <a:close/>
                  <a:moveTo>
                    <a:pt x="2000" y="10000"/>
                  </a:moveTo>
                  <a:lnTo>
                    <a:pt x="6000" y="10000"/>
                  </a:lnTo>
                  <a:lnTo>
                    <a:pt x="6000" y="22000"/>
                  </a:lnTo>
                  <a:lnTo>
                    <a:pt x="2000" y="22000"/>
                  </a:lnTo>
                  <a:lnTo>
                    <a:pt x="2000" y="10000"/>
                  </a:lnTo>
                  <a:close/>
                </a:path>
              </a:pathLst>
            </a:custGeom>
            <a:solidFill>
              <a:srgbClr val="AEC2D8"/>
            </a:solidFill>
            <a:ln w="6985">
              <a:solidFill>
                <a:srgbClr val="7791A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LABEL_reaction_count"/>
            <p:cNvSpPr txBox="1"/>
            <p:nvPr/>
          </p:nvSpPr>
          <p:spPr>
            <a:xfrm>
              <a:off x="10963656" y="2734056"/>
              <a:ext cx="210312" cy="27432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>
                  <a:solidFill>
                    <a:srgbClr val="1C3B70"/>
                  </a:solidFill>
                  <a:latin typeface="Times New Roman"/>
                  <a:ea typeface="Times New Roman"/>
                  <a:cs typeface="Times New Roman"/>
                </a:rPr>
                <a:t>3</a:t>
              </a:r>
            </a:p>
          </p:txBody>
        </p:sp>
      </p:grpSp>
      <p:sp>
        <p:nvSpPr>
          <p:cNvPr id="37" name="CAPTION_context_disclosure"/>
          <p:cNvSpPr txBox="1"/>
          <p:nvPr/>
        </p:nvSpPr>
        <p:spPr>
          <a:xfrm>
            <a:off x="6400800" y="4133087"/>
            <a:ext cx="521208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7F7F7F"/>
                </a:solidFill>
                <a:latin typeface="Source Han Sans CN Light"/>
                <a:ea typeface="Source Han Sans CN Light"/>
                <a:cs typeface="Source Han Sans CN Light"/>
              </a:rPr>
              <a:t>情境演示，非实验数据。</a:t>
            </a:r>
          </a:p>
        </p:txBody>
      </p:sp>
      <p:grpSp>
        <p:nvGrpSpPr>
          <p:cNvPr id="38" name="GROUP_research_question_footnote"/>
          <p:cNvGrpSpPr/>
          <p:nvPr/>
        </p:nvGrpSpPr>
        <p:grpSpPr>
          <a:xfrm>
            <a:off x="540000" y="5303520"/>
            <a:ext cx="11112000" cy="905256"/>
            <a:chOff x="540000" y="5303520"/>
            <a:chExt cx="11112000" cy="905256"/>
          </a:xfrm>
        </p:grpSpPr>
        <p:sp>
          <p:nvSpPr>
            <p:cNvPr id="39" name="FRAME_research_question"/>
            <p:cNvSpPr/>
            <p:nvPr/>
          </p:nvSpPr>
          <p:spPr>
            <a:xfrm>
              <a:off x="540000" y="5303520"/>
              <a:ext cx="11112000" cy="905256"/>
            </a:xfrm>
            <a:prstGeom prst="roundRect">
              <a:avLst>
                <a:gd name="adj" fmla="val 5000"/>
              </a:avLst>
            </a:prstGeom>
            <a:solidFill>
              <a:srgbClr val="F8FAFC"/>
            </a:solidFill>
            <a:ln w="8890">
              <a:solidFill>
                <a:srgbClr val="F8FAF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BODY_question_footnote"/>
            <p:cNvSpPr txBox="1"/>
            <p:nvPr/>
          </p:nvSpPr>
          <p:spPr>
            <a:xfrm>
              <a:off x="722880" y="5440680"/>
              <a:ext cx="10746240" cy="36576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700" b="0">
                  <a:solidFill>
                    <a:srgbClr val="7F7F7F"/>
                  </a:solidFill>
                  <a:latin typeface="Source Han Sans CN Light"/>
                  <a:ea typeface="Source Han Sans CN Light"/>
                  <a:cs typeface="Source Han Sans CN Light"/>
                </a:rPr>
                <a:t>反应与定向回复的可用性，如何影响政治讨论中的参与、互动与多样性？</a:t>
              </a:r>
            </a:p>
          </p:txBody>
        </p:sp>
        <p:sp>
          <p:nvSpPr>
            <p:cNvPr id="41" name="CAPTION_question_summary"/>
            <p:cNvSpPr txBox="1"/>
            <p:nvPr/>
          </p:nvSpPr>
          <p:spPr>
            <a:xfrm>
              <a:off x="722880" y="5916168"/>
              <a:ext cx="10746240" cy="182880"/>
            </a:xfrm>
            <a:prstGeom prst="rect">
              <a:avLst/>
            </a:prstGeom>
            <a:noFill/>
          </p:spPr>
          <p:txBody>
            <a:bodyPr wrap="square" anchor="ctr" lIns="0" rIns="0" tIns="0" bIns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b="0">
                  <a:solidFill>
                    <a:srgbClr val="7F7F7F"/>
                  </a:solidFill>
                  <a:latin typeface="Source Han Sans CN Light"/>
                  <a:ea typeface="Source Han Sans CN Light"/>
                  <a:cs typeface="Source Han Sans CN Light"/>
                </a:rPr>
                <a:t>汇报者概括的总研究问题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8" dur="1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360"/>
                                  </p:stCondLst>
                                  <p:childTnLst>
                                    <p:set>
                                      <p:cBhvr>
                                        <p:cTn id="10" dur="1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80" fill="hold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" fill="hold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Han Serif C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Han Sans CN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反应与回复如何改变政治讨论？</dc:title>
  <dc:subject>Jaidka 等（2026）：反应与回复功能的多维行为后果</dc:subject>
  <dc:creator>学术文献汇报</dc:creator>
  <cp:lastModifiedBy>学术文献汇报</cp:lastModifiedBy>
  <cp:revision>1</cp:revision>
  <dcterms:created xsi:type="dcterms:W3CDTF">2026-10-27T09:39:43Z</dcterms:created>
  <dcterms:modified xsi:type="dcterms:W3CDTF">2026-10-27T09:39:43Z</dcterms:modified>
</cp:coreProperties>
</file>