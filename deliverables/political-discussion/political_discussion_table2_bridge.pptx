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5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四组条件实际留下什么数据？原文第7到9页是同一张跨页表2，给出了各组聊天记录的实例。</a:t>
            </a:r>
          </a:p>
          <a:p>
            <a:r>
              <a:t>每一行既保留谁说了什么，也记录收到的赞、踩、所属房间，以及消息编号和回复对象。</a:t>
            </a:r>
          </a:p>
          <a:p>
            <a:r>
              <a:t>看红框：消息1299是一位用户发出的“Agree”，它的回复对象是1297。再结合两条消息的用户编号，就知道用户123回应了用户121。作者据此识别消息间的回应关系，并映射到参与者之间的联系，构建消息网络与会话网络，再计算回复链深度等指标。</a:t>
            </a:r>
          </a:p>
          <a:p>
            <a:r>
              <a:t>这里还有一层内容处理：没有使用回复按钮的文字回应，也会通过人工标注识别；主题标签是自动识别的，和另外人工标注的立场不是同一类数据。下一页再看这些记录如何对应具体指标。</a:t>
            </a:r>
          </a:p>
          <a:p/>
          <a:p>
            <a:r>
              <a:t>【备查，不朗读】</a:t>
            </a:r>
          </a:p>
          <a:p>
            <a:r>
              <a:t>插入位置：现有“四组条件、样本与分析”之后，“指标与网络构建”之前。新增页按第06页标号，本文件只有这一页，未改动整套演示文稿。</a:t>
            </a:r>
          </a:p>
          <a:p>
            <a:r>
              <a:t>原始证据：Jaidka et al. (2026), Journal of Computer-Mediated Communication, 31(3), zmag008, Table 2，PDF第7—9页。该三页属于同一张跨页表，不是三个独立结果章节。表中案例用于说明记录结构，不能据此推断功能的平均效应或显著性。</a:t>
            </a:r>
          </a:p>
          <a:p>
            <a:r>
              <a:t>本页截取位置：第7页消息6、10（反应开／回复关），第7页消息1297、1299（反应关／回复开），第8页消息611（两种功能均关），第9页消息747、749（两种功能均开）。原表UserId至自动主题的8列保持原顺序；左侧功能条件为原表两列Allow reactions/Allow replies的中文表述。标题行取自第7页，八列的列义一致。</a:t>
            </a:r>
          </a:p>
          <a:p>
            <a:r>
              <a:t>核对实例：第7页，房间19，消息1297的发言者是121，主题Advertising；消息1299的发言者是123，文字Agree，Reply to=1297，主题Agreement。箭头从回复消息指向被回复消息；用户级示意箭头从回复者指向被回复者。本页只演示其中一条实际联系，未把节选当作完整网络。用户联系聚合后可按回复次数加权，见PDF第4页Figure 1B；此处未虚构完整边权或网络统计量。</a:t>
            </a:r>
          </a:p>
          <a:p>
            <a:r>
              <a:t>第5页Deriving content features说明：functional replies包括正式点击回复及人工标注的隐含文字回应，不能把Reply to=0解释为没有回应；功能关闭时也仍可普通文字聊天。第5—6页说明主题特征通过主题模型得到，主题分布用于主题熵／KL散度等，而立场经人工标注用于立场分布。表2的Automatically labeled topic不是立场标签。点赞／点踩数是反馈记录，不直接作为回复网络的边。</a:t>
            </a:r>
          </a:p>
          <a:p>
            <a:r>
              <a:t>可编辑性：标题、列义、条件、中文批注、匹配框、流程文字、页脚为原生PowerPoint对象；表2原文保留为独立截图证据。原文表格未重新录入，未改写其中数据。</a:t>
            </a:r>
          </a:p>
          <a:p>
            <a:r>
              <a:t>本页计划讲述约45—55秒，未实际试讲。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从聊天记录到分析数据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et al. (2026), Journal of Computer-Mediated Communication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doi.org/10.1093/jcmc/zmag008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PDF pp. 7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–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9, Table 2 excerpts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06</a:t>
            </a:r>
            <a:endParaRPr lang="en-US" sz="1000" dirty="0"/>
          </a:p>
        </p:txBody>
      </p:sp>
      <p:sp>
        <p:nvSpPr>
          <p:cNvPr id="6" name="BODY_bridge_subtitle"/>
          <p:cNvSpPr txBox="1"/>
          <p:nvPr/>
        </p:nvSpPr>
        <p:spPr>
          <a:xfrm>
            <a:off x="540000" y="1335024"/>
            <a:ext cx="1111197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表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把发言内容、反馈与回复对象，整理为可分析的记录。</a:t>
            </a:r>
          </a:p>
        </p:txBody>
      </p:sp>
      <p:sp>
        <p:nvSpPr>
          <p:cNvPr id="7" name="LABEL_condition_header"/>
          <p:cNvSpPr txBox="1"/>
          <p:nvPr/>
        </p:nvSpPr>
        <p:spPr>
          <a:xfrm>
            <a:off x="540000" y="1819656"/>
            <a:ext cx="14447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功能条件</a:t>
            </a:r>
          </a:p>
        </p:txBody>
      </p:sp>
      <p:sp>
        <p:nvSpPr>
          <p:cNvPr id="8" name="LABEL_column_用户"/>
          <p:cNvSpPr txBox="1"/>
          <p:nvPr/>
        </p:nvSpPr>
        <p:spPr>
          <a:xfrm>
            <a:off x="2348230" y="1819656"/>
            <a:ext cx="5577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用户</a:t>
            </a:r>
          </a:p>
        </p:txBody>
      </p:sp>
      <p:sp>
        <p:nvSpPr>
          <p:cNvPr id="9" name="LABEL_column_发言文本"/>
          <p:cNvSpPr txBox="1"/>
          <p:nvPr/>
        </p:nvSpPr>
        <p:spPr>
          <a:xfrm>
            <a:off x="3007372" y="1819656"/>
            <a:ext cx="2651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发言文本</a:t>
            </a:r>
          </a:p>
        </p:txBody>
      </p:sp>
      <p:sp>
        <p:nvSpPr>
          <p:cNvPr id="10" name="LABEL_column_赞 / 踩"/>
          <p:cNvSpPr txBox="1"/>
          <p:nvPr/>
        </p:nvSpPr>
        <p:spPr>
          <a:xfrm>
            <a:off x="6185901" y="1819656"/>
            <a:ext cx="13075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赞</a:t>
            </a:r>
            <a:r>
              <a:rPr sz="13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踩</a:t>
            </a:r>
          </a:p>
        </p:txBody>
      </p:sp>
      <p:sp>
        <p:nvSpPr>
          <p:cNvPr id="11" name="LABEL_column_回复对象"/>
          <p:cNvSpPr txBox="1"/>
          <p:nvPr/>
        </p:nvSpPr>
        <p:spPr>
          <a:xfrm>
            <a:off x="7877699" y="1819656"/>
            <a:ext cx="72237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回复对象</a:t>
            </a:r>
          </a:p>
        </p:txBody>
      </p:sp>
      <p:sp>
        <p:nvSpPr>
          <p:cNvPr id="12" name="LABEL_column_房间"/>
          <p:cNvSpPr txBox="1"/>
          <p:nvPr/>
        </p:nvSpPr>
        <p:spPr>
          <a:xfrm>
            <a:off x="8639374" y="1819656"/>
            <a:ext cx="6217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房间</a:t>
            </a:r>
          </a:p>
        </p:txBody>
      </p:sp>
      <p:sp>
        <p:nvSpPr>
          <p:cNvPr id="13" name="LABEL_column_消息编号"/>
          <p:cNvSpPr txBox="1"/>
          <p:nvPr/>
        </p:nvSpPr>
        <p:spPr>
          <a:xfrm>
            <a:off x="9415697" y="1819656"/>
            <a:ext cx="7680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消息编号</a:t>
            </a:r>
          </a:p>
        </p:txBody>
      </p:sp>
      <p:sp>
        <p:nvSpPr>
          <p:cNvPr id="14" name="LABEL_column_自动主题"/>
          <p:cNvSpPr txBox="1"/>
          <p:nvPr/>
        </p:nvSpPr>
        <p:spPr>
          <a:xfrm>
            <a:off x="10309200" y="1819656"/>
            <a:ext cx="13075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自动主题</a:t>
            </a:r>
          </a:p>
        </p:txBody>
      </p:sp>
      <p:pic>
        <p:nvPicPr>
          <p:cNvPr id="15" name="EVIDENCE_original_table2_headers" descr="table2-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2084831"/>
            <a:ext cx="9345168" cy="489338"/>
          </a:xfrm>
          <a:prstGeom prst="rect">
            <a:avLst/>
          </a:prstGeom>
        </p:spPr>
      </p:pic>
      <p:grpSp>
        <p:nvGrpSpPr>
          <p:cNvPr id="16" name="GROUP_condition_reaction_only"/>
          <p:cNvGrpSpPr/>
          <p:nvPr/>
        </p:nvGrpSpPr>
        <p:grpSpPr>
          <a:xfrm>
            <a:off x="540000" y="2679192"/>
            <a:ext cx="11109456" cy="585216"/>
            <a:chOff x="540000" y="2679192"/>
            <a:chExt cx="11109456" cy="585216"/>
          </a:xfrm>
        </p:grpSpPr>
        <p:sp>
          <p:nvSpPr>
            <p:cNvPr id="17" name="LABEL_condition_reaction_only"/>
            <p:cNvSpPr txBox="1"/>
            <p:nvPr/>
          </p:nvSpPr>
          <p:spPr>
            <a:xfrm>
              <a:off x="540000" y="2679192"/>
              <a:ext cx="1572768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反应开｜回复关</a:t>
              </a:r>
            </a:p>
          </p:txBody>
        </p:sp>
        <p:pic>
          <p:nvPicPr>
            <p:cNvPr id="18" name="EVIDENCE_original_table2_reaction_only" descr="reactions-only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04288" y="2711217"/>
              <a:ext cx="9345168" cy="521165"/>
            </a:xfrm>
            <a:prstGeom prst="rect">
              <a:avLst/>
            </a:prstGeom>
          </p:spPr>
        </p:pic>
      </p:grpSp>
      <p:grpSp>
        <p:nvGrpSpPr>
          <p:cNvPr id="19" name="GROUP_condition_reply_only"/>
          <p:cNvGrpSpPr/>
          <p:nvPr/>
        </p:nvGrpSpPr>
        <p:grpSpPr>
          <a:xfrm>
            <a:off x="540000" y="3374136"/>
            <a:ext cx="11109456" cy="649224"/>
            <a:chOff x="540000" y="3374136"/>
            <a:chExt cx="11109456" cy="649224"/>
          </a:xfrm>
        </p:grpSpPr>
        <p:sp>
          <p:nvSpPr>
            <p:cNvPr id="20" name="LABEL_condition_reply_only"/>
            <p:cNvSpPr txBox="1"/>
            <p:nvPr/>
          </p:nvSpPr>
          <p:spPr>
            <a:xfrm>
              <a:off x="540000" y="3374136"/>
              <a:ext cx="1572768" cy="6492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反应关｜回复开</a:t>
              </a:r>
            </a:p>
          </p:txBody>
        </p:sp>
        <p:pic>
          <p:nvPicPr>
            <p:cNvPr id="21" name="EVIDENCE_original_table2_reply_only" descr="replies-only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4288" y="3406338"/>
              <a:ext cx="9345168" cy="584818"/>
            </a:xfrm>
            <a:prstGeom prst="rect">
              <a:avLst/>
            </a:prstGeom>
          </p:spPr>
        </p:pic>
        <p:sp>
          <p:nvSpPr>
            <p:cNvPr id="22" name="ANNOTATION_match_1297"/>
            <p:cNvSpPr/>
            <p:nvPr/>
          </p:nvSpPr>
          <p:spPr>
            <a:xfrm>
              <a:off x="9379078" y="3428309"/>
              <a:ext cx="366189" cy="197742"/>
            </a:xfrm>
            <a:prstGeom prst="rect">
              <a:avLst/>
            </a:prstGeom>
            <a:noFill/>
            <a:ln w="11430">
              <a:solidFill>
                <a:srgbClr val="9B22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ANNOTATION_match_1299"/>
            <p:cNvSpPr/>
            <p:nvPr/>
          </p:nvSpPr>
          <p:spPr>
            <a:xfrm>
              <a:off x="9379078" y="3794499"/>
              <a:ext cx="366189" cy="197742"/>
            </a:xfrm>
            <a:prstGeom prst="rect">
              <a:avLst/>
            </a:prstGeom>
            <a:noFill/>
            <a:ln w="11430">
              <a:solidFill>
                <a:srgbClr val="9B22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NNOTATION_match_reply_to_1297"/>
            <p:cNvSpPr/>
            <p:nvPr/>
          </p:nvSpPr>
          <p:spPr>
            <a:xfrm>
              <a:off x="7841080" y="3794499"/>
              <a:ext cx="366189" cy="197742"/>
            </a:xfrm>
            <a:prstGeom prst="rect">
              <a:avLst/>
            </a:prstGeom>
            <a:noFill/>
            <a:ln w="11430">
              <a:solidFill>
                <a:srgbClr val="9B22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_condition_neither"/>
          <p:cNvGrpSpPr/>
          <p:nvPr/>
        </p:nvGrpSpPr>
        <p:grpSpPr>
          <a:xfrm>
            <a:off x="540000" y="4142232"/>
            <a:ext cx="11109456" cy="420624"/>
            <a:chOff x="540000" y="4142232"/>
            <a:chExt cx="11109456" cy="420624"/>
          </a:xfrm>
        </p:grpSpPr>
        <p:sp>
          <p:nvSpPr>
            <p:cNvPr id="26" name="LABEL_condition_neither"/>
            <p:cNvSpPr txBox="1"/>
            <p:nvPr/>
          </p:nvSpPr>
          <p:spPr>
            <a:xfrm>
              <a:off x="540000" y="4142232"/>
              <a:ext cx="1572768" cy="4206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反应关｜回复关</a:t>
              </a:r>
            </a:p>
          </p:txBody>
        </p:sp>
        <p:pic>
          <p:nvPicPr>
            <p:cNvPr id="27" name="EVIDENCE_original_table2_neither" descr="neither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04288" y="4265020"/>
              <a:ext cx="9345168" cy="175047"/>
            </a:xfrm>
            <a:prstGeom prst="rect">
              <a:avLst/>
            </a:prstGeom>
          </p:spPr>
        </p:pic>
      </p:grpSp>
      <p:grpSp>
        <p:nvGrpSpPr>
          <p:cNvPr id="28" name="GROUP_condition_both"/>
          <p:cNvGrpSpPr/>
          <p:nvPr/>
        </p:nvGrpSpPr>
        <p:grpSpPr>
          <a:xfrm>
            <a:off x="540000" y="4645152"/>
            <a:ext cx="11109456" cy="448056"/>
            <a:chOff x="540000" y="4645152"/>
            <a:chExt cx="11109456" cy="448056"/>
          </a:xfrm>
        </p:grpSpPr>
        <p:sp>
          <p:nvSpPr>
            <p:cNvPr id="29" name="LABEL_condition_both"/>
            <p:cNvSpPr txBox="1"/>
            <p:nvPr/>
          </p:nvSpPr>
          <p:spPr>
            <a:xfrm>
              <a:off x="540000" y="4645152"/>
              <a:ext cx="1572768" cy="4480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反应开｜回复开</a:t>
              </a:r>
            </a:p>
          </p:txBody>
        </p:sp>
        <p:pic>
          <p:nvPicPr>
            <p:cNvPr id="30" name="EVIDENCE_original_table2_both" descr="both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04288" y="4688164"/>
              <a:ext cx="9345168" cy="362030"/>
            </a:xfrm>
            <a:prstGeom prst="rect">
              <a:avLst/>
            </a:prstGeom>
          </p:spPr>
        </p:pic>
      </p:grpSp>
      <p:sp>
        <p:nvSpPr>
          <p:cNvPr id="31" name="RULE_table_section_3.62"/>
          <p:cNvSpPr/>
          <p:nvPr/>
        </p:nvSpPr>
        <p:spPr>
          <a:xfrm>
            <a:off x="540000" y="3310128"/>
            <a:ext cx="11111971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ULE_table_section_4.45"/>
          <p:cNvSpPr/>
          <p:nvPr/>
        </p:nvSpPr>
        <p:spPr>
          <a:xfrm>
            <a:off x="540000" y="4069080"/>
            <a:ext cx="11111971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ULE_table_section_5.02"/>
          <p:cNvSpPr/>
          <p:nvPr/>
        </p:nvSpPr>
        <p:spPr>
          <a:xfrm>
            <a:off x="540000" y="4590288"/>
            <a:ext cx="11111971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ULE_table_section_5.67"/>
          <p:cNvSpPr/>
          <p:nvPr/>
        </p:nvSpPr>
        <p:spPr>
          <a:xfrm>
            <a:off x="540000" y="5184648"/>
            <a:ext cx="11111971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DY_message_link"/>
          <p:cNvSpPr txBox="1"/>
          <p:nvPr/>
        </p:nvSpPr>
        <p:spPr>
          <a:xfrm>
            <a:off x="540000" y="5358384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B2226"/>
                </a:solidFill>
                <a:latin typeface="Source Han Sans CN Light"/>
                <a:ea typeface="Source Han Sans CN Light"/>
                <a:cs typeface="Source Han Sans CN Light"/>
              </a:rPr>
              <a:t>消息</a:t>
            </a:r>
            <a:r>
              <a:rPr sz="2100" b="0">
                <a:solidFill>
                  <a:srgbClr val="9B2226"/>
                </a:solidFill>
                <a:latin typeface="Times New Roman"/>
                <a:ea typeface="Times New Roman"/>
                <a:cs typeface="Times New Roman"/>
              </a:rPr>
              <a:t> 1299 </a:t>
            </a:r>
            <a:r>
              <a:rPr sz="2100" b="0">
                <a:solidFill>
                  <a:srgbClr val="9B2226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  <a:r>
              <a:rPr sz="2100" b="0">
                <a:solidFill>
                  <a:srgbClr val="9B2226"/>
                </a:solidFill>
                <a:latin typeface="Times New Roman"/>
                <a:ea typeface="Times New Roman"/>
                <a:cs typeface="Times New Roman"/>
              </a:rPr>
              <a:t> 1297</a:t>
            </a:r>
          </a:p>
        </p:txBody>
      </p:sp>
      <p:sp>
        <p:nvSpPr>
          <p:cNvPr id="36" name="BODY_user_link"/>
          <p:cNvSpPr txBox="1"/>
          <p:nvPr/>
        </p:nvSpPr>
        <p:spPr>
          <a:xfrm>
            <a:off x="4133087" y="5358384"/>
            <a:ext cx="2999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用户</a:t>
            </a:r>
            <a:r>
              <a:rPr sz="21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123 </a:t>
            </a:r>
            <a:r>
              <a:rPr sz="21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  <a:r>
              <a:rPr sz="21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121</a:t>
            </a:r>
          </a:p>
        </p:txBody>
      </p:sp>
      <p:sp>
        <p:nvSpPr>
          <p:cNvPr id="37" name="BODY_network_metrics"/>
          <p:cNvSpPr txBox="1"/>
          <p:nvPr/>
        </p:nvSpPr>
        <p:spPr>
          <a:xfrm>
            <a:off x="8119872" y="5358384"/>
            <a:ext cx="3529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网络与指标</a:t>
            </a:r>
          </a:p>
        </p:txBody>
      </p:sp>
      <p:sp>
        <p:nvSpPr>
          <p:cNvPr id="38" name="LABEL_mapping_arrow_1"/>
          <p:cNvSpPr txBox="1"/>
          <p:nvPr/>
        </p:nvSpPr>
        <p:spPr>
          <a:xfrm>
            <a:off x="3666744" y="5358384"/>
            <a:ext cx="3383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</a:p>
        </p:txBody>
      </p:sp>
      <p:sp>
        <p:nvSpPr>
          <p:cNvPr id="39" name="LABEL_mapping_arrow_2"/>
          <p:cNvSpPr txBox="1"/>
          <p:nvPr/>
        </p:nvSpPr>
        <p:spPr>
          <a:xfrm>
            <a:off x="7406640" y="5358384"/>
            <a:ext cx="3383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</a:p>
        </p:txBody>
      </p:sp>
      <p:sp>
        <p:nvSpPr>
          <p:cNvPr id="40" name="CAPTION_message_relation"/>
          <p:cNvSpPr txBox="1"/>
          <p:nvPr/>
        </p:nvSpPr>
        <p:spPr>
          <a:xfrm>
            <a:off x="540000" y="5806440"/>
            <a:ext cx="3383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按回复对象关联具体发言</a:t>
            </a:r>
          </a:p>
        </p:txBody>
      </p:sp>
      <p:sp>
        <p:nvSpPr>
          <p:cNvPr id="41" name="CAPTION_user_relation"/>
          <p:cNvSpPr txBox="1"/>
          <p:nvPr/>
        </p:nvSpPr>
        <p:spPr>
          <a:xfrm>
            <a:off x="4133087" y="5806440"/>
            <a:ext cx="2999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识别谁在回应谁</a:t>
            </a:r>
          </a:p>
        </p:txBody>
      </p:sp>
      <p:sp>
        <p:nvSpPr>
          <p:cNvPr id="42" name="CAPTION_metrics"/>
          <p:cNvSpPr txBox="1"/>
          <p:nvPr/>
        </p:nvSpPr>
        <p:spPr>
          <a:xfrm>
            <a:off x="8119872" y="5806440"/>
            <a:ext cx="352958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消息／会话网络</a:t>
            </a:r>
            <a:r>
              <a:rPr sz="132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2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  <a:r>
              <a:rPr sz="132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2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回复链深度等</a:t>
            </a:r>
          </a:p>
        </p:txBody>
      </p:sp>
      <p:sp>
        <p:nvSpPr>
          <p:cNvPr id="43" name="CAPTION_coding_boundary"/>
          <p:cNvSpPr txBox="1"/>
          <p:nvPr/>
        </p:nvSpPr>
        <p:spPr>
          <a:xfrm>
            <a:off x="540000" y="6126480"/>
            <a:ext cx="111119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隐含回应另经人工标注；自动主题用于主题分布分析，立场另经人工编码。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C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CN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反应与回复如何改变政治讨论？</dc:title>
  <dc:subject>Jaidka 等（2026）：反应与回复功能的多维行为后果</dc:subject>
  <dc:creator>学术文献汇报</dc:creator>
  <cp:lastModifiedBy>学术文献汇报</cp:lastModifiedBy>
  <cp:revision>1</cp:revision>
  <dcterms:created xsi:type="dcterms:W3CDTF">2026-10-27T09:39:43Z</dcterms:created>
  <dcterms:modified xsi:type="dcterms:W3CDTF">2026-10-27T09:39:43Z</dcterms:modified>
</cp:coreProperties>
</file>