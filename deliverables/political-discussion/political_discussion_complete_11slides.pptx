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今天汇报反应与回复如何改变政治讨论。这是Kokil Jaidka等人发表于2026年JCMC的实验研究，截图是论文题名与作者信息。先从一个日常情境说起。</a:t>
            </a:r>
          </a:p>
          <a:p/>
          <a:p>
            <a:r>
              <a:t>【备查，不朗读】</a:t>
            </a:r>
          </a:p>
          <a:p>
            <a:r>
              <a:t>计划讲述预算：15秒。</a:t>
            </a:r>
          </a:p>
          <a:p>
            <a:r>
              <a:t>来源：论文PDF第1页题名、作者及期刊身份信息。Kokil Jaidka为第一作者兼通讯作者；论文署名机构为新加坡国立大学传播与新媒体系，其他署名机构包括明尼苏达大学、宾夕法尼亚大学、威斯康星大学麦迪逊分校。机构均为论文署名信息，不推断当前任职。期刊为Journal of Computer-Mediated Communication, 31(3), zmag008，2026，DOI 10.1093/jcmc/zmag008。论文由Oxford University Press代表International Communication Association出版。截图不含摘要；不朗读完整英文题名、出版社和全部机构。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在这个假想群聊里，几位成员可以各发一句“同意”，也可以把赞同附着在原消息下面。文字少了，参与就一定减少了吗？如果再加一个定向回复按钮，讨论就一定更好吗？</a:t>
            </a:r>
          </a:p>
          <a:p/>
          <a:p>
            <a:r>
              <a:t>这引出本次汇报概括的总问题：两种功能是否可用，会怎样影响政治讨论中的参与、互动与多样性？要回答它，先区分功能与评价维度。</a:t>
            </a:r>
          </a:p>
          <a:p/>
          <a:p>
            <a:r>
              <a:t>【备查，不朗读】</a:t>
            </a:r>
          </a:p>
          <a:p>
            <a:r>
              <a:t>计划讲述预算：30秒。</a:t>
            </a:r>
          </a:p>
          <a:p>
            <a:r>
              <a:t>情境为假想演示，不是实验数据，也不对应某一具体平台的真实界面。快捷反应附着于原消息，不是独立表情消息。总问题为汇报者概括，不是论文RQ1或RQ2的逐字翻译；两条原文RQ分别聚焦功能与多样性的关系（PDF第3页）。研究动机及功能层面问题见第2—3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反应是附着在消息上的快捷正、负反馈；回复是指向特定消息的文字回应功能。没有回复按钮，也仍可用普通文字回应别人。</a:t>
            </a:r>
          </a:p>
          <a:p/>
          <a:p>
            <a:r>
              <a:t>作者借助TIME思考，界面操作方式如何影响人与人之间的交流。研究聚焦内部包容性，也就是讨论内部的贡献、回应联系与观点分布，分别用参与、互动和多样性三组行为指标观察。</a:t>
            </a:r>
          </a:p>
          <a:p/>
          <a:p>
            <a:r>
              <a:t>对应两条原文假设，作者预期反应可能替代继续打字，减少参与和互动；回复可能维持来回交流，增加两者。多样性方向保持开放。这些是理论解释，心理过程并未直接检验，也不能把内部包容性等同于讨论质量的全部含义。</a:t>
            </a:r>
          </a:p>
          <a:p/>
          <a:p>
            <a:r>
              <a:t>【备查，不朗读】</a:t>
            </a:r>
          </a:p>
          <a:p>
            <a:r>
              <a:t>计划讲述预算：50秒。</a:t>
            </a:r>
          </a:p>
          <a:p>
            <a:r>
              <a:t>依据PDF第2页TIME、Background和内部包容性论述，第3页H1/H2与RQ1/RQ2。TIME全称为Theory of Interactive Media Effects。页面上方说明的是本研究采用的理论视角，而非TIME的完整定义。H1/H2均比较功能可用相对不可用。替代继续打字、维持交流是理论解释，未直接测量心理中介。多样性方向不预设，不宣称首次发现互动性有多个维度。内部包容性并不覆盖礼貌、给出理由等全部讨论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矩阵中的反应和回复，各有可用与不可用两种状态，组合成四组。四组都能发送普通文字。美国成年参与者围绕社交媒体内容监管展开讨论。</a:t>
            </a:r>
          </a:p>
          <a:p/>
          <a:p>
            <a:r>
              <a:t>共有1,643人进入，其中273人没有发消息，主要行为分析使用1,370名发言者。这个样本范围，后面还要再评价。</a:t>
            </a:r>
          </a:p>
          <a:p/>
          <a:p>
            <a:r>
              <a:t>同一聊天室成员的行为往往有关联，分析时不能把所有记录都视为完全独立，因此模型考虑了聊天室层面的关联。这里，功能条件是随机指定的，回归模型处理的是数据关联；两者承担不同作用。</a:t>
            </a:r>
          </a:p>
          <a:p/>
          <a:p>
            <a:r>
              <a:t>【备查，不朗读】</a:t>
            </a:r>
          </a:p>
          <a:p>
            <a:r>
              <a:t>计划讲述预算：45秒。</a:t>
            </a:r>
          </a:p>
          <a:p>
            <a:r>
              <a:t>依据PDF第3—4页方法，第5页表1，第6页Recruitment与Analytical strategies。表1原人数：回复无／反应无399，回复无／反应有408，回复有／反应无420，回复有／反应有416。正文却写四组最大416，与420不一致；保留原表数字，不报告399—416区间，不逐格念人数。1,643进入、273未发消息、主要分析1,370发言者。回归考虑聊天室随机截距，并控制人口与党派变量，文中报告多重比较调整；不在口述中展开公式、全部控制项或随机截距术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先看右侧图1B。左边每个节点是一条消息，连线表示回应关系；同一个人可以发送多条消息。右边再汇总到参与者之间，数字表示谁回应了谁、回应多少次。作者还编码了隐含文字回应，所以这些关系不只是按钮点击记录。</a:t>
            </a:r>
          </a:p>
          <a:p/>
          <a:p>
            <a:r>
              <a:t>网络图主要帮助理解回应结构。消息数量和长度来自行为记录，立场分布还需要内容编码，四项指标并非全出自同一张网络。</a:t>
            </a:r>
          </a:p>
          <a:p/>
          <a:p>
            <a:r>
              <a:t>本次只选这四项代表指标。数量、长度看文字贡献，最大链深看连续回应，立场多样性看表达分布。长度和链深不直接代表论证质量，立场分布也不等于实际理解或接触不同观点的程度。</a:t>
            </a:r>
          </a:p>
          <a:p/>
          <a:p>
            <a:r>
              <a:t>【备查，不朗读】</a:t>
            </a:r>
          </a:p>
          <a:p>
            <a:r>
              <a:t>计划讲述预算：50秒。</a:t>
            </a:r>
          </a:p>
          <a:p>
            <a:r>
              <a:t>主图为PDF第4页原文图1B Message and Conversation Networks，网络构建示意，非实验结果图。原图注：左侧节点是消息、边是回应逻辑；右侧节点是参与者、边权是一个参与者回应另一个参与者的次数。重复字母对应同一参与者的不同消息。指标与人工内容编码依据第5页：功能性回应包括正式Reply点击与隐含文字引用；立场分布另需立场编码。四项只是汇报选择。Message elaboration定义用median message length (in words)，第6页描述统计用characters；保持中性“消息长度中位数”，不擅自统一成汉字数。链深为最大嵌套层级，立场多样性为Shannon指标；长度、链深不等于论证质量，立场分布不等于实际阅读、接触或理解程度。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现在看反应功能可用，相对于不可用的结果。每个点表示模型估计的差异，虚线零表示无差异；绿色对应反应功能，橙色对应回复功能，并不是两个互斥的实验组。</a:t>
            </a:r>
          </a:p>
          <a:p/>
          <a:p>
            <a:r>
              <a:t>先看绿色：消息数量在零线下方，消息长度在上方，两项都达到统计显著。因此，反应可用时文字消息较少，典型单条更长，参与下降的预期只得到部分支持。</a:t>
            </a:r>
          </a:p>
          <a:p/>
          <a:p>
            <a:r>
              <a:t>这是否说明简短打字被快捷反应替代了？它与结果相容，但研究没有直接检验这个过程。消息更长，也不能直接说表达质量更高。要理解这种变化的意义，还需结合下一页的互动与多样性结果。</a:t>
            </a:r>
          </a:p>
          <a:p/>
          <a:p>
            <a:r>
              <a:t>【备查，不朗读】</a:t>
            </a:r>
          </a:p>
          <a:p>
            <a:r>
              <a:t>计划讲述预算：55秒。</a:t>
            </a:r>
          </a:p>
          <a:p>
            <a:r>
              <a:t>图为PDF第10页图2用户层面Message Volume与Message Elaboration节选，保留原始数据颜色、共享功能标签、零线、误差线和统计符号。绿色为Allow Reactions效应，橙色为Allow Replies效应，不是两个互斥实验组。误差线±SE（标准误），不是95%置信区间；显著性结合原图符号与正文判断，不以误差线是否跨零代替常用显著性检验。正文第6页：反应消息数量β=-0.053, SE=0.009, p&lt;.001；长度β=0.042, SE=0.011, p&lt;.001。系数不是平均消息数或百分比；指标曾作[0,1]缩放，不跨指标直接比较实质影响大小。H1a部分支持。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这页把两个结果面板放在一起。先看橙色回复效应：左图回复链深度增加，右图立场多样性下降，两项都显著。回复增加文字参与的预期未获支持，增加互动也只部分得到支持，因为其他几项互动指标没有显著改善。</a:t>
            </a:r>
          </a:p>
          <a:p/>
          <a:p>
            <a:r>
              <a:t>再看右图绿色点，它在零线上方，表示反应功能对应更高的立场多样性。结合上一页，反应使文字消息数量减少，但立场多样性提高；回复则让回应链加深，同时降低立场多样性。这两组不同方向的变化，具体说明了作者所说的权衡。</a:t>
            </a:r>
          </a:p>
          <a:p/>
          <a:p>
            <a:r>
              <a:t>这里的多样性只指立场分布，不是所有多样性都同向变化；结构加深也不等于论证深入，更不能合并成讨论整体的统一升降。</a:t>
            </a:r>
          </a:p>
          <a:p/>
          <a:p>
            <a:r>
              <a:t>【备查，不朗读】</a:t>
            </a:r>
          </a:p>
          <a:p>
            <a:r>
              <a:t>计划讲述预算：60秒。</a:t>
            </a:r>
          </a:p>
          <a:p>
            <a:r>
              <a:t>图按变量名、图内标题与第6页正文共同定位：Conversation Depth用户层面在PDF第12页，Shannon Diversity用户层面在第11页。第11、12页原图注与图内内容不对应，不能只凭Figure 3/4图注判断。保留原始绿橙色、坐标、零线、共享标签／图例和显著性符号。误差线±SE，非95%置信区间。正文第6页：回复链深β=0.022, SE=0.007, p&lt;.01；反应立场Shannon β=0.055, SE=0.019, p&lt;.01；回复立场Shannon β=-0.060, SE=0.019, p&lt;.01。H2a未获支持，H2b部分支持；其他若干互动指标未显著改善。表3将回复数量／长度标为边际结果，按正文假设判断处理，不改写为完全无影响。反应条件下主题广度下降，因此不能把所有多样性讲成统一上升。“权衡”不等于统计交互效应、固定零和或所有平台的普遍规律；第14页未发现显著功能交互且存在检验力边界。不同指标系数不直接比较实质效应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它的推进可以分为两方面。理论上，研究把反应、回复这些具体功能与人际讨论后果联系起来，显示不同维度可能朝不同方向变化，这是对TIME相关理解的经验细化。</a:t>
            </a:r>
          </a:p>
          <a:p/>
          <a:p>
            <a:r>
              <a:t>方法上，它在受控平台随机比较功能条件，并用实际讨论行为记录检验功能的行为后果。</a:t>
            </a:r>
          </a:p>
          <a:p/>
          <a:p>
            <a:r>
              <a:t>不过，这些测量没有覆盖讨论质量的全部含义，也未直接验证完整心理机制；更不能据此推出所有平台都该增加或关闭同一种功能。</a:t>
            </a:r>
          </a:p>
          <a:p/>
          <a:p>
            <a:r>
              <a:t>【备查，不朗读】</a:t>
            </a:r>
          </a:p>
          <a:p>
            <a:r>
              <a:t>计划讲述预算：35秒。</a:t>
            </a:r>
          </a:p>
          <a:p>
            <a:r>
              <a:t>依据PDF第2页贡献陈述、第10—14页Discussion与Limitations。受控平台随机比较、实际讨论行为记录均为文中设计；研究同时有前后问卷；此处的方法价值主要强调实际行为记录。理论贡献是具体功能与多维结果的经验细化，不是完整心理机制验证。内部包容性指标未覆盖讨论质量全部含义，不将作者的全部实践主张视为同等强度的已证实结论；不直接推出普适增减按钮处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最后保留两个证据边界。第一，作者关注讨论贡献者的行为，因此主要分析没有包括273名未发消息者。这个界定说明了研究对象，但是否存在样本选择问题，仍需另外检查。若功能会影响谁开口，留下的发言者子样本就可能不再完全可比，可补充比较各条件的发言比例。这是待核验风险，不是已证实的偏差。</a:t>
            </a:r>
          </a:p>
          <a:p/>
          <a:p>
            <a:r>
              <a:t>第二，作者说明部分预注册语言质量检验未显著，当前重点转向内部包容性。哪些当前检验属于事前计划，仍需对照注册方案，既不能一概称为确认性，也不能一概断定为事后发现。</a:t>
            </a:r>
          </a:p>
          <a:p/>
          <a:p>
            <a:r>
              <a:t>【备查，不朗读】</a:t>
            </a:r>
          </a:p>
          <a:p>
            <a:r>
              <a:t>计划讲述预算：55秒。</a:t>
            </a:r>
          </a:p>
          <a:p>
            <a:r>
              <a:t>依据PDF第12页末与第14页左栏。作者说明研究范围为internal inclusiveness、讨论贡献者行为，不等于消除选择偏差风险。未发消息者可能阅读或使用其他功能，不统称没有参与。消息数量可以有意义地记零，长度和立场多样性不能机械填零。未重新分析各条件发言比例，未证明随机化完全失效。原文说The study design and selected hypotheses concerning linguistic deliberative quality were pre-registered; however, treatments yielded no significant effects on those outcomes，随后转向inclusivity。未逐项审查外部OSF注册方案；不把全部当前检验称为确认性，也不一概称事后发现；研究重点调整不等于反复修改模型。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回到开场，文字减少不等于参与全面衰退，回复链加深也不等于讨论全面改善。评价界面功能，应先明确目标，再看对应指标与适用范围。文献DOI和已核实的PDF入口都在这里，谢谢大家。</a:t>
            </a:r>
          </a:p>
          <a:p/>
          <a:p>
            <a:r>
              <a:t>【备查，不朗读】</a:t>
            </a:r>
          </a:p>
          <a:p>
            <a:r>
              <a:t>计划讲述预算：20秒。</a:t>
            </a:r>
          </a:p>
          <a:p>
            <a:r>
              <a:t>结论依据PDF第14页Conclusion。DOI为10.1093/jcmc/zmag008，与论文书目信息一致；PDF为该论文原文，按CC BY 4.0开放获取。全稿计划预算共455秒，另预留25秒指图、翻页与停顿；没有实际试讲，不宣称已经验证8分钟。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看原文图1A。左上是前测，记录人口信息和政策态度；随后参与者进入等待室，匹配成组，再进入已随机指定功能条件的聊天室。随机化的单位是聊天室，同室成员使用相同功能，不是每条消息随机分配按钮。</a:t>
            </a:r>
          </a:p>
          <a:p/>
          <a:p>
            <a:r>
              <a:t>讨论持续约28分钟，之后完成关于讨论评价和政策态度的后测。图中按顺序连接了参与者经历的实验环节。接下来再看四组到底比较什么，以及哪些记录进入分析。</a:t>
            </a:r>
          </a:p>
          <a:p/>
          <a:p>
            <a:r>
              <a:t>【备查，不朗读】</a:t>
            </a:r>
          </a:p>
          <a:p>
            <a:r>
              <a:t>计划讲述预算：40秒。</a:t>
            </a:r>
          </a:p>
          <a:p>
            <a:r>
              <a:t>主图为PDF第4页原文图1A Research Design，属于实验流程示意，不是结果图。流程核对第4页Procedure：前测人口与政策态度、等待匹配、五人入室、聊天室层面功能随机、条件说明与置顶提示、约28分钟讨论、讨论后测。每个聊天室条件一致，非消息层面随机。研究还有固定话题提示；实际比较包括配套说明／提示的功能条件，不能声称完全剥离提示效应。图外中文定位仅解释原文环节，没有添加新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doi.org/10.1093/jcmc/zmag00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github.com/2901737437-hub/codex-demo/raw/refs/heads/presentation/political-discussion/deliverables/political-discussion/zmag008.pdf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et al. (2026), Journal of Computer-Mediated Communication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doi.org/10.1093/jcmc/zmag008</a:t>
            </a:r>
            <a:endParaRPr lang="en-US" sz="1000" dirty="0"/>
          </a:p>
        </p:txBody>
      </p:sp>
      <p:sp>
        <p:nvSpPr>
          <p:cNvPr id="3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</a:t>
            </a:r>
            <a:endParaRPr lang="en-US" sz="1000" dirty="0"/>
          </a:p>
        </p:txBody>
      </p:sp>
      <p:sp>
        <p:nvSpPr>
          <p:cNvPr id="4" name="TITLE_cover"/>
          <p:cNvSpPr txBox="1"/>
          <p:nvPr/>
        </p:nvSpPr>
        <p:spPr>
          <a:xfrm>
            <a:off x="540000" y="960120"/>
            <a:ext cx="1069848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反应与回复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如何改变政治讨论？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540000" y="270662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参与、互动与多样性的实验检验</a:t>
            </a:r>
          </a:p>
        </p:txBody>
      </p:sp>
      <p:sp>
        <p:nvSpPr>
          <p:cNvPr id="8" name="SOURCE_compact_bibliography"/>
          <p:cNvSpPr txBox="1"/>
          <p:nvPr/>
        </p:nvSpPr>
        <p:spPr>
          <a:xfrm>
            <a:off x="540000" y="3337560"/>
            <a:ext cx="1111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Kokil Jaidka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2026 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JCMC, 31(3), zmag008</a:t>
            </a:r>
          </a:p>
        </p:txBody>
      </p:sp>
      <p:sp>
        <p:nvSpPr>
          <p:cNvPr id="10" name="BODY_presenter"/>
          <p:cNvSpPr txBox="1"/>
          <p:nvPr/>
        </p:nvSpPr>
        <p:spPr>
          <a:xfrm>
            <a:off x="9144000" y="544068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汇报人：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姓名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pic>
        <p:nvPicPr>
          <p:cNvPr id="11" name="EVIDENCE_paper_title_identity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41" y="3913632"/>
            <a:ext cx="7901476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文字少了，参与就少了吗？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情境演示，非实验数据；研究问题依据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页概括。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02</a:t>
            </a:r>
            <a:endParaRPr lang="en-US" sz="1000" dirty="0"/>
          </a:p>
        </p:txBody>
      </p:sp>
      <p:sp>
        <p:nvSpPr>
          <p:cNvPr id="6" name="LABEL_context_text_mode"/>
          <p:cNvSpPr txBox="1"/>
          <p:nvPr/>
        </p:nvSpPr>
        <p:spPr>
          <a:xfrm>
            <a:off x="5400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逐条文字回应</a:t>
            </a:r>
          </a:p>
        </p:txBody>
      </p:sp>
      <p:sp>
        <p:nvSpPr>
          <p:cNvPr id="7" name="LABEL_context_reaction_mode"/>
          <p:cNvSpPr txBox="1"/>
          <p:nvPr/>
        </p:nvSpPr>
        <p:spPr>
          <a:xfrm>
            <a:off x="64008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附着快捷反应</a:t>
            </a:r>
          </a:p>
        </p:txBody>
      </p:sp>
      <p:grpSp>
        <p:nvGrpSpPr>
          <p:cNvPr id="8" name="GROUP_left_original"/>
          <p:cNvGrpSpPr/>
          <p:nvPr/>
        </p:nvGrpSpPr>
        <p:grpSpPr>
          <a:xfrm>
            <a:off x="540000" y="1938528"/>
            <a:ext cx="5212080" cy="841248"/>
            <a:chOff x="540000" y="1938528"/>
            <a:chExt cx="5212080" cy="841248"/>
          </a:xfrm>
        </p:grpSpPr>
        <p:sp>
          <p:nvSpPr>
            <p:cNvPr id="9" name="MESSAGE_left_original"/>
            <p:cNvSpPr/>
            <p:nvPr/>
          </p:nvSpPr>
          <p:spPr>
            <a:xfrm>
              <a:off x="5400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BEL_left_original_sender"/>
            <p:cNvSpPr txBox="1"/>
            <p:nvPr/>
          </p:nvSpPr>
          <p:spPr>
            <a:xfrm>
              <a:off x="6588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11" name="BODY_left_original_content"/>
            <p:cNvSpPr txBox="1"/>
            <p:nvPr/>
          </p:nvSpPr>
          <p:spPr>
            <a:xfrm>
              <a:off x="11343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</p:grpSp>
      <p:grpSp>
        <p:nvGrpSpPr>
          <p:cNvPr id="12" name="GROUP_response_B"/>
          <p:cNvGrpSpPr/>
          <p:nvPr/>
        </p:nvGrpSpPr>
        <p:grpSpPr>
          <a:xfrm>
            <a:off x="942336" y="2926080"/>
            <a:ext cx="4809744" cy="475488"/>
            <a:chOff x="942336" y="2926080"/>
            <a:chExt cx="4809744" cy="475488"/>
          </a:xfrm>
        </p:grpSpPr>
        <p:sp>
          <p:nvSpPr>
            <p:cNvPr id="13" name="MESSAGE_response_B"/>
            <p:cNvSpPr/>
            <p:nvPr/>
          </p:nvSpPr>
          <p:spPr>
            <a:xfrm>
              <a:off x="942336" y="2926080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ABEL_response_B_sender"/>
            <p:cNvSpPr txBox="1"/>
            <p:nvPr/>
          </p:nvSpPr>
          <p:spPr>
            <a:xfrm>
              <a:off x="1061208" y="2990088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15" name="BODY_response_B_content"/>
            <p:cNvSpPr txBox="1"/>
            <p:nvPr/>
          </p:nvSpPr>
          <p:spPr>
            <a:xfrm>
              <a:off x="1536696" y="2990088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同意</a:t>
              </a:r>
            </a:p>
          </p:txBody>
        </p:sp>
      </p:grpSp>
      <p:grpSp>
        <p:nvGrpSpPr>
          <p:cNvPr id="16" name="GROUP_response_C"/>
          <p:cNvGrpSpPr/>
          <p:nvPr/>
        </p:nvGrpSpPr>
        <p:grpSpPr>
          <a:xfrm>
            <a:off x="942336" y="3493008"/>
            <a:ext cx="4809744" cy="475488"/>
            <a:chOff x="942336" y="3493008"/>
            <a:chExt cx="4809744" cy="475488"/>
          </a:xfrm>
        </p:grpSpPr>
        <p:sp>
          <p:nvSpPr>
            <p:cNvPr id="17" name="MESSAGE_response_C"/>
            <p:cNvSpPr/>
            <p:nvPr/>
          </p:nvSpPr>
          <p:spPr>
            <a:xfrm>
              <a:off x="942336" y="3493008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ABEL_response_C_sender"/>
            <p:cNvSpPr txBox="1"/>
            <p:nvPr/>
          </p:nvSpPr>
          <p:spPr>
            <a:xfrm>
              <a:off x="1061208" y="3557015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19" name="BODY_response_C_content"/>
            <p:cNvSpPr txBox="1"/>
            <p:nvPr/>
          </p:nvSpPr>
          <p:spPr>
            <a:xfrm>
              <a:off x="1536696" y="3557015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</a:p>
          </p:txBody>
        </p:sp>
      </p:grpSp>
      <p:grpSp>
        <p:nvGrpSpPr>
          <p:cNvPr id="20" name="GROUP_response_D"/>
          <p:cNvGrpSpPr/>
          <p:nvPr/>
        </p:nvGrpSpPr>
        <p:grpSpPr>
          <a:xfrm>
            <a:off x="942336" y="4059936"/>
            <a:ext cx="4809744" cy="475488"/>
            <a:chOff x="942336" y="4059936"/>
            <a:chExt cx="4809744" cy="475488"/>
          </a:xfrm>
        </p:grpSpPr>
        <p:sp>
          <p:nvSpPr>
            <p:cNvPr id="21" name="MESSAGE_response_D"/>
            <p:cNvSpPr/>
            <p:nvPr/>
          </p:nvSpPr>
          <p:spPr>
            <a:xfrm>
              <a:off x="942336" y="4059936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ABEL_response_D_sender"/>
            <p:cNvSpPr txBox="1"/>
            <p:nvPr/>
          </p:nvSpPr>
          <p:spPr>
            <a:xfrm>
              <a:off x="1061208" y="4123944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23" name="BODY_response_D_content"/>
            <p:cNvSpPr txBox="1"/>
            <p:nvPr/>
          </p:nvSpPr>
          <p:spPr>
            <a:xfrm>
              <a:off x="1536696" y="4123944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我也这么想</a:t>
              </a:r>
            </a:p>
          </p:txBody>
        </p:sp>
      </p:grpSp>
      <p:grpSp>
        <p:nvGrpSpPr>
          <p:cNvPr id="24" name="GROUP_right_original"/>
          <p:cNvGrpSpPr/>
          <p:nvPr/>
        </p:nvGrpSpPr>
        <p:grpSpPr>
          <a:xfrm>
            <a:off x="6400800" y="1938528"/>
            <a:ext cx="5212080" cy="1344168"/>
            <a:chOff x="6400800" y="1938528"/>
            <a:chExt cx="5212080" cy="1344168"/>
          </a:xfrm>
        </p:grpSpPr>
        <p:sp>
          <p:nvSpPr>
            <p:cNvPr id="25" name="MESSAGE_right_original"/>
            <p:cNvSpPr/>
            <p:nvPr/>
          </p:nvSpPr>
          <p:spPr>
            <a:xfrm>
              <a:off x="64008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LABEL_right_original_sender"/>
            <p:cNvSpPr txBox="1"/>
            <p:nvPr/>
          </p:nvSpPr>
          <p:spPr>
            <a:xfrm>
              <a:off x="65196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7" name="BODY_right_original_content"/>
            <p:cNvSpPr txBox="1"/>
            <p:nvPr/>
          </p:nvSpPr>
          <p:spPr>
            <a:xfrm>
              <a:off x="69951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  <p:sp>
          <p:nvSpPr>
            <p:cNvPr id="28" name="REACTION_attached_to_original"/>
            <p:cNvSpPr/>
            <p:nvPr/>
          </p:nvSpPr>
          <p:spPr>
            <a:xfrm>
              <a:off x="7013448" y="2779776"/>
              <a:ext cx="3474720" cy="50292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BODY_attached_reaction_members"/>
            <p:cNvSpPr txBox="1"/>
            <p:nvPr/>
          </p:nvSpPr>
          <p:spPr>
            <a:xfrm>
              <a:off x="7159752" y="2843784"/>
              <a:ext cx="3182112" cy="3566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·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B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</p:grpSp>
      <p:sp>
        <p:nvSpPr>
          <p:cNvPr id="30" name="CAPTION_context_disclosure"/>
          <p:cNvSpPr txBox="1"/>
          <p:nvPr/>
        </p:nvSpPr>
        <p:spPr>
          <a:xfrm>
            <a:off x="6400800" y="4014215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情境演示，非实验数据。</a:t>
            </a:r>
          </a:p>
        </p:txBody>
      </p:sp>
      <p:sp>
        <p:nvSpPr>
          <p:cNvPr id="31" name="BODY_overall_research_question"/>
          <p:cNvSpPr txBox="1"/>
          <p:nvPr/>
        </p:nvSpPr>
        <p:spPr>
          <a:xfrm>
            <a:off x="540000" y="4956048"/>
            <a:ext cx="1111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反应与定向回复的可用性，如何影响政治讨论中的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参与、互动与多样性？</a:t>
            </a:r>
          </a:p>
        </p:txBody>
      </p:sp>
      <p:sp>
        <p:nvSpPr>
          <p:cNvPr id="32" name="CAPTION_question_summary"/>
          <p:cNvSpPr txBox="1"/>
          <p:nvPr/>
        </p:nvSpPr>
        <p:spPr>
          <a:xfrm>
            <a:off x="540000" y="5879592"/>
            <a:ext cx="1111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汇报者概括的总研究问题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概念与理论预期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页理论与研究范围，第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03</a:t>
            </a:r>
            <a:endParaRPr lang="en-US" sz="1000" dirty="0"/>
          </a:p>
        </p:txBody>
      </p:sp>
      <p:sp>
        <p:nvSpPr>
          <p:cNvPr id="6" name="BODY_theory_perspective"/>
          <p:cNvSpPr txBox="1"/>
          <p:nvPr/>
        </p:nvSpPr>
        <p:spPr>
          <a:xfrm>
            <a:off x="540000" y="1344168"/>
            <a:ext cx="11112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作者借助互动媒体效果理论（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），考察界面操作方式如何影响人际交流。</a:t>
            </a:r>
          </a:p>
        </p:txBody>
      </p:sp>
      <p:grpSp>
        <p:nvGrpSpPr>
          <p:cNvPr id="7" name="GROUP_feature_反应"/>
          <p:cNvGrpSpPr/>
          <p:nvPr/>
        </p:nvGrpSpPr>
        <p:grpSpPr>
          <a:xfrm>
            <a:off x="540000" y="1865376"/>
            <a:ext cx="5239512" cy="2971800"/>
            <a:chOff x="540000" y="1865376"/>
            <a:chExt cx="5239512" cy="2971800"/>
          </a:xfrm>
        </p:grpSpPr>
        <p:sp>
          <p:nvSpPr>
            <p:cNvPr id="8" name="FRAME_feature_反应"/>
            <p:cNvSpPr/>
            <p:nvPr/>
          </p:nvSpPr>
          <p:spPr>
            <a:xfrm>
              <a:off x="540000" y="1865376"/>
              <a:ext cx="5239512" cy="297180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ABEL_feature_反应"/>
            <p:cNvSpPr txBox="1"/>
            <p:nvPr/>
          </p:nvSpPr>
          <p:spPr>
            <a:xfrm>
              <a:off x="704592" y="1984248"/>
              <a:ext cx="4892040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反应</a:t>
              </a:r>
            </a:p>
          </p:txBody>
        </p:sp>
        <p:sp>
          <p:nvSpPr>
            <p:cNvPr id="10" name="BODY_definition_反应"/>
            <p:cNvSpPr txBox="1"/>
            <p:nvPr/>
          </p:nvSpPr>
          <p:spPr>
            <a:xfrm>
              <a:off x="704592" y="2395728"/>
              <a:ext cx="4892040" cy="38404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附着在消息上的快捷正、负反馈</a:t>
              </a:r>
            </a:p>
          </p:txBody>
        </p:sp>
        <p:sp>
          <p:nvSpPr>
            <p:cNvPr id="11" name="BODY_theoretical_explanation_反应"/>
            <p:cNvSpPr txBox="1"/>
            <p:nvPr/>
          </p:nvSpPr>
          <p:spPr>
            <a:xfrm>
              <a:off x="704592" y="2862072"/>
              <a:ext cx="4892040" cy="3657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理论解释：可能替代继续打字</a:t>
              </a:r>
            </a:p>
          </p:txBody>
        </p:sp>
        <p:sp>
          <p:nvSpPr>
            <p:cNvPr id="12" name="BODY_expectation_反应"/>
            <p:cNvSpPr txBox="1"/>
            <p:nvPr/>
          </p:nvSpPr>
          <p:spPr>
            <a:xfrm>
              <a:off x="704592" y="3328416"/>
              <a:ext cx="4892040" cy="3657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预期：参与和互动减少</a:t>
              </a:r>
            </a:p>
          </p:txBody>
        </p:sp>
        <p:pic>
          <p:nvPicPr>
            <p:cNvPr id="13" name="EVIDENCE_hypothesis_反应" descr="image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10336" y="3767328"/>
              <a:ext cx="4080551" cy="950976"/>
            </a:xfrm>
            <a:prstGeom prst="rect">
              <a:avLst/>
            </a:prstGeom>
          </p:spPr>
        </p:pic>
      </p:grpSp>
      <p:grpSp>
        <p:nvGrpSpPr>
          <p:cNvPr id="14" name="GROUP_feature_回复"/>
          <p:cNvGrpSpPr/>
          <p:nvPr/>
        </p:nvGrpSpPr>
        <p:grpSpPr>
          <a:xfrm>
            <a:off x="6409944" y="1865376"/>
            <a:ext cx="5239512" cy="2971800"/>
            <a:chOff x="6409944" y="1865376"/>
            <a:chExt cx="5239512" cy="2971800"/>
          </a:xfrm>
        </p:grpSpPr>
        <p:sp>
          <p:nvSpPr>
            <p:cNvPr id="15" name="FRAME_feature_回复"/>
            <p:cNvSpPr/>
            <p:nvPr/>
          </p:nvSpPr>
          <p:spPr>
            <a:xfrm>
              <a:off x="6409944" y="1865376"/>
              <a:ext cx="5239512" cy="297180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LABEL_feature_回复"/>
            <p:cNvSpPr txBox="1"/>
            <p:nvPr/>
          </p:nvSpPr>
          <p:spPr>
            <a:xfrm>
              <a:off x="6574536" y="1984248"/>
              <a:ext cx="4892040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回复</a:t>
              </a:r>
            </a:p>
          </p:txBody>
        </p:sp>
        <p:sp>
          <p:nvSpPr>
            <p:cNvPr id="17" name="BODY_definition_回复"/>
            <p:cNvSpPr txBox="1"/>
            <p:nvPr/>
          </p:nvSpPr>
          <p:spPr>
            <a:xfrm>
              <a:off x="6574536" y="2395728"/>
              <a:ext cx="4892040" cy="38404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指向特定消息的定向文字回应功能</a:t>
              </a:r>
            </a:p>
          </p:txBody>
        </p:sp>
        <p:sp>
          <p:nvSpPr>
            <p:cNvPr id="18" name="BODY_theoretical_explanation_回复"/>
            <p:cNvSpPr txBox="1"/>
            <p:nvPr/>
          </p:nvSpPr>
          <p:spPr>
            <a:xfrm>
              <a:off x="6574536" y="2862072"/>
              <a:ext cx="4892040" cy="3657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理论解释：可能维持来回交流</a:t>
              </a:r>
            </a:p>
          </p:txBody>
        </p:sp>
        <p:sp>
          <p:nvSpPr>
            <p:cNvPr id="19" name="BODY_expectation_回复"/>
            <p:cNvSpPr txBox="1"/>
            <p:nvPr/>
          </p:nvSpPr>
          <p:spPr>
            <a:xfrm>
              <a:off x="6574536" y="3328416"/>
              <a:ext cx="4892040" cy="3657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预期：参与和互动增加</a:t>
              </a:r>
            </a:p>
          </p:txBody>
        </p:sp>
        <p:pic>
          <p:nvPicPr>
            <p:cNvPr id="20" name="EVIDENCE_hypothesis_回复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2497" y="3767328"/>
              <a:ext cx="4156117" cy="950976"/>
            </a:xfrm>
            <a:prstGeom prst="rect">
              <a:avLst/>
            </a:prstGeom>
          </p:spPr>
        </p:pic>
      </p:grpSp>
      <p:sp>
        <p:nvSpPr>
          <p:cNvPr id="21" name="LABEL_scope"/>
          <p:cNvSpPr txBox="1"/>
          <p:nvPr/>
        </p:nvSpPr>
        <p:spPr>
          <a:xfrm>
            <a:off x="540000" y="5010912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研究范围</a:t>
            </a:r>
          </a:p>
        </p:txBody>
      </p:sp>
      <p:sp>
        <p:nvSpPr>
          <p:cNvPr id="22" name="BODY_internal_inclusiveness"/>
          <p:cNvSpPr txBox="1"/>
          <p:nvPr/>
        </p:nvSpPr>
        <p:spPr>
          <a:xfrm>
            <a:off x="2615184" y="4965192"/>
            <a:ext cx="899769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内部包容性：讨论内部的贡献、回应联系与观点分布；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对应参与、互动、多样性三组行为指标。</a:t>
            </a:r>
          </a:p>
        </p:txBody>
      </p:sp>
      <p:sp>
        <p:nvSpPr>
          <p:cNvPr id="23" name="BODY_scope_boundaries"/>
          <p:cNvSpPr txBox="1"/>
          <p:nvPr/>
        </p:nvSpPr>
        <p:spPr>
          <a:xfrm>
            <a:off x="540000" y="5724144"/>
            <a:ext cx="111120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不等于讨论质量的全部含义；多样性方向保持开放。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替代打字与维持交流是理论解释，未被直接检验。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四组条件、样本与分析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功能矩阵依据原文表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整理；实验及分析见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 lang="en-US" sz="1000" dirty="0"/>
          </a:p>
        </p:txBody>
      </p:sp>
      <p:sp>
        <p:nvSpPr>
          <p:cNvPr id="6" name="BODY_experiment_randomization"/>
          <p:cNvSpPr txBox="1"/>
          <p:nvPr/>
        </p:nvSpPr>
        <p:spPr>
          <a:xfrm>
            <a:off x="540000" y="1353312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×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2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功能条件；随机化单位为聊天室</a:t>
            </a:r>
          </a:p>
        </p:txBody>
      </p:sp>
      <p:graphicFrame>
        <p:nvGraphicFramePr>
          <p:cNvPr id="7" name="TABLE_function_conditions"/>
          <p:cNvGraphicFramePr>
            <a:graphicFrameLocks noGrp="1"/>
          </p:cNvGraphicFramePr>
          <p:nvPr/>
        </p:nvGraphicFramePr>
        <p:xfrm>
          <a:off x="540000" y="1947672"/>
          <a:ext cx="58978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2148840"/>
              </a:tblGrid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无反应／无回复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399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仅反应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408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420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反应＋回复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416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LABEL_chatroom_context"/>
          <p:cNvSpPr txBox="1"/>
          <p:nvPr/>
        </p:nvSpPr>
        <p:spPr>
          <a:xfrm>
            <a:off x="6967728" y="1975104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自建同步聊天室</a:t>
            </a:r>
          </a:p>
        </p:txBody>
      </p:sp>
      <p:sp>
        <p:nvSpPr>
          <p:cNvPr id="9" name="BODY_discussion_context"/>
          <p:cNvSpPr txBox="1"/>
          <p:nvPr/>
        </p:nvSpPr>
        <p:spPr>
          <a:xfrm>
            <a:off x="6967728" y="2670048"/>
            <a:ext cx="461772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美国成年参与者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社交媒体内容监管议题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约</a:t>
            </a:r>
            <a:r>
              <a:rPr sz="19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分钟讨论</a:t>
            </a:r>
          </a:p>
        </p:txBody>
      </p:sp>
      <p:sp>
        <p:nvSpPr>
          <p:cNvPr id="10" name="BODY_all_conditions_text"/>
          <p:cNvSpPr txBox="1"/>
          <p:nvPr/>
        </p:nvSpPr>
        <p:spPr>
          <a:xfrm>
            <a:off x="6967728" y="4169663"/>
            <a:ext cx="4617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四组都可发送普通文字</a:t>
            </a:r>
          </a:p>
        </p:txBody>
      </p:sp>
      <p:sp>
        <p:nvSpPr>
          <p:cNvPr id="11" name="RULE"/>
          <p:cNvSpPr/>
          <p:nvPr/>
        </p:nvSpPr>
        <p:spPr>
          <a:xfrm>
            <a:off x="540000" y="4901184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analytic_sample"/>
          <p:cNvSpPr txBox="1"/>
          <p:nvPr/>
        </p:nvSpPr>
        <p:spPr>
          <a:xfrm>
            <a:off x="540000" y="5129784"/>
            <a:ext cx="11112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进入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1,643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人；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273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人未发消息；主要分析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1,370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名发言者。</a:t>
            </a:r>
          </a:p>
        </p:txBody>
      </p:sp>
      <p:sp>
        <p:nvSpPr>
          <p:cNvPr id="13" name="BODY_analysis_method"/>
          <p:cNvSpPr txBox="1"/>
          <p:nvPr/>
        </p:nvSpPr>
        <p:spPr>
          <a:xfrm>
            <a:off x="540000" y="5733288"/>
            <a:ext cx="1111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混合效应回归：考虑同一聊天室成员行为的关联。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概念如何变成可观察指标？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原文图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1B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页（网络构建示意，非结果图）；指标与编码：第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06</a:t>
            </a:r>
            <a:endParaRPr lang="en-US" sz="1000" dirty="0"/>
          </a:p>
        </p:txBody>
      </p:sp>
      <p:sp>
        <p:nvSpPr>
          <p:cNvPr id="6" name="CAPTION_representative_subset"/>
          <p:cNvSpPr txBox="1"/>
          <p:nvPr/>
        </p:nvSpPr>
        <p:spPr>
          <a:xfrm>
            <a:off x="540000" y="1380744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本次选取四项代表指标，非论文全部指标。</a:t>
            </a:r>
          </a:p>
        </p:txBody>
      </p:sp>
      <p:graphicFrame>
        <p:nvGraphicFramePr>
          <p:cNvPr id="6" name="TABLE_representative_meas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901952"/>
          <a:ext cx="5623560" cy="329184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  <a:gridCol w="26060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维度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代表指标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直接观察什么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消息数量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每人发送多少条文字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消息长度中位数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典型一条消息有多长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互动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回复链最大深度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连续回应延伸多少层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立场多样性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表达立场的分布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BEL_network_construction"/>
          <p:cNvSpPr txBox="1"/>
          <p:nvPr/>
        </p:nvSpPr>
        <p:spPr>
          <a:xfrm>
            <a:off x="6565392" y="1783080"/>
            <a:ext cx="50749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图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1B</a:t>
            </a: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：从消息到参与者网络</a:t>
            </a:r>
          </a:p>
        </p:txBody>
      </p:sp>
      <p:pic>
        <p:nvPicPr>
          <p:cNvPr id="8" name="EVIDENCE_figure1B_original" descr="figure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212848"/>
            <a:ext cx="5074920" cy="3291307"/>
          </a:xfrm>
          <a:prstGeom prst="rect">
            <a:avLst/>
          </a:prstGeom>
        </p:spPr>
      </p:pic>
      <p:sp>
        <p:nvSpPr>
          <p:cNvPr id="9" name="CAPTION_network_node_and_weight"/>
          <p:cNvSpPr txBox="1"/>
          <p:nvPr/>
        </p:nvSpPr>
        <p:spPr>
          <a:xfrm>
            <a:off x="6565392" y="5559552"/>
            <a:ext cx="5074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左：节点＝消息；边＝回应关系。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右：节点＝参与者；边权＝回应次数。</a:t>
            </a:r>
          </a:p>
        </p:txBody>
      </p:sp>
      <p:sp>
        <p:nvSpPr>
          <p:cNvPr id="10" name="BODY_measurement_boundary"/>
          <p:cNvSpPr txBox="1"/>
          <p:nvPr/>
        </p:nvSpPr>
        <p:spPr>
          <a:xfrm>
            <a:off x="540000" y="5504688"/>
            <a:ext cx="5623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回应结构看网络；数量、长度看记录；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立场分布还需内容编码。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反应功能：文字更少，单条更长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用户层面；误差线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+ p&lt;.1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 p&lt;.05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 p&lt;.01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*** p&lt;.001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07</a:t>
            </a:r>
            <a:endParaRPr lang="en-US" sz="1000" dirty="0"/>
          </a:p>
        </p:txBody>
      </p:sp>
      <p:sp>
        <p:nvSpPr>
          <p:cNvPr id="6" name="BODY_reaction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比较：反应功能可用，相对于不可用（用户层面）</a:t>
            </a:r>
          </a:p>
        </p:txBody>
      </p:sp>
      <p:sp>
        <p:nvSpPr>
          <p:cNvPr id="7" name="LABEL_volume_direction"/>
          <p:cNvSpPr txBox="1"/>
          <p:nvPr/>
        </p:nvSpPr>
        <p:spPr>
          <a:xfrm>
            <a:off x="118008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消息数量减少</a:t>
            </a:r>
          </a:p>
        </p:txBody>
      </p:sp>
      <p:sp>
        <p:nvSpPr>
          <p:cNvPr id="8" name="LABEL_length_direction"/>
          <p:cNvSpPr txBox="1"/>
          <p:nvPr/>
        </p:nvSpPr>
        <p:spPr>
          <a:xfrm>
            <a:off x="456336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单条消息更长</a:t>
            </a:r>
          </a:p>
        </p:txBody>
      </p:sp>
      <p:pic>
        <p:nvPicPr>
          <p:cNvPr id="9" name="EVIDENCE_figure2_user_panels_preserved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2194560"/>
            <a:ext cx="6510528" cy="3845052"/>
          </a:xfrm>
          <a:prstGeom prst="rect">
            <a:avLst/>
          </a:prstGeom>
        </p:spPr>
      </p:pic>
      <p:sp>
        <p:nvSpPr>
          <p:cNvPr id="10" name="BODY_quality_boundary"/>
          <p:cNvSpPr txBox="1"/>
          <p:nvPr/>
        </p:nvSpPr>
        <p:spPr>
          <a:xfrm>
            <a:off x="8247888" y="256032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长度是行为指标，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不直接代表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表达质量更高。</a:t>
            </a:r>
          </a:p>
        </p:txBody>
      </p:sp>
      <p:sp>
        <p:nvSpPr>
          <p:cNvPr id="11" name="BODY_substitution_boundary"/>
          <p:cNvSpPr txBox="1"/>
          <p:nvPr/>
        </p:nvSpPr>
        <p:spPr>
          <a:xfrm>
            <a:off x="8247888" y="4379976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替代简短打字：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可能解释，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尚未直接检验。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反应与回复：两种具体的权衡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用户层面节选：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Conversation Depth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Shannon Diversity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；误差线±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08</a:t>
            </a:r>
            <a:endParaRPr lang="en-US" sz="1000" dirty="0"/>
          </a:p>
        </p:txBody>
      </p:sp>
      <p:sp>
        <p:nvSpPr>
          <p:cNvPr id="6" name="BODY_reply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图示比较各功能可用相对不可用的差异（用户层面）</a:t>
            </a:r>
          </a:p>
        </p:txBody>
      </p:sp>
      <p:sp>
        <p:nvSpPr>
          <p:cNvPr id="7" name="LABEL_conversation_depth"/>
          <p:cNvSpPr txBox="1"/>
          <p:nvPr/>
        </p:nvSpPr>
        <p:spPr>
          <a:xfrm>
            <a:off x="2743200" y="18013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回复链深度</a:t>
            </a:r>
          </a:p>
        </p:txBody>
      </p:sp>
      <p:sp>
        <p:nvSpPr>
          <p:cNvPr id="8" name="LABEL_shannon_diversity"/>
          <p:cNvSpPr txBox="1"/>
          <p:nvPr/>
        </p:nvSpPr>
        <p:spPr>
          <a:xfrm>
            <a:off x="6126480" y="18013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立场多样性</a:t>
            </a:r>
          </a:p>
        </p:txBody>
      </p:sp>
      <p:pic>
        <p:nvPicPr>
          <p:cNvPr id="9" name="EVIDENCE_conversation_depth_user" descr="conversation-depth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258568"/>
            <a:ext cx="2736202" cy="3575304"/>
          </a:xfrm>
          <a:prstGeom prst="rect">
            <a:avLst/>
          </a:prstGeom>
        </p:spPr>
      </p:pic>
      <p:pic>
        <p:nvPicPr>
          <p:cNvPr id="10" name="EVIDENCE_shannon_diversity_user" descr="shannon-diversity-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258568"/>
            <a:ext cx="2764410" cy="3575304"/>
          </a:xfrm>
          <a:prstGeom prst="rect">
            <a:avLst/>
          </a:prstGeom>
        </p:spPr>
      </p:pic>
      <p:sp>
        <p:nvSpPr>
          <p:cNvPr id="11" name="BODY_result_scope"/>
          <p:cNvSpPr txBox="1"/>
          <p:nvPr/>
        </p:nvSpPr>
        <p:spPr>
          <a:xfrm>
            <a:off x="540000" y="5998464"/>
            <a:ext cx="1111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反应：消息量减少、立场多样性上升；回复：链深增加、立场多样性下降。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贡献：理论推进与方法价值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页、第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Discussion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与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09</a:t>
            </a:r>
            <a:endParaRPr lang="en-US" sz="1000" dirty="0"/>
          </a:p>
        </p:txBody>
      </p:sp>
      <p:grpSp>
        <p:nvGrpSpPr>
          <p:cNvPr id="6" name="GROUP_contribution_理论推进"/>
          <p:cNvGrpSpPr/>
          <p:nvPr/>
        </p:nvGrpSpPr>
        <p:grpSpPr>
          <a:xfrm>
            <a:off x="540000" y="1481328"/>
            <a:ext cx="5239512" cy="3246120"/>
            <a:chOff x="540000" y="1481328"/>
            <a:chExt cx="5239512" cy="3246120"/>
          </a:xfrm>
        </p:grpSpPr>
        <p:sp>
          <p:nvSpPr>
            <p:cNvPr id="7" name="FRAME_contribution_理论推进"/>
            <p:cNvSpPr/>
            <p:nvPr/>
          </p:nvSpPr>
          <p:spPr>
            <a:xfrm>
              <a:off x="540000" y="1481328"/>
              <a:ext cx="5239512" cy="324612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ABEL_contribution_理论推进"/>
            <p:cNvSpPr txBox="1"/>
            <p:nvPr/>
          </p:nvSpPr>
          <p:spPr>
            <a:xfrm>
              <a:off x="741167" y="1691640"/>
              <a:ext cx="4800600" cy="38404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理论推进</a:t>
              </a:r>
            </a:p>
          </p:txBody>
        </p:sp>
        <p:sp>
          <p:nvSpPr>
            <p:cNvPr id="9" name="BODY_contribution_理论推进"/>
            <p:cNvSpPr txBox="1"/>
            <p:nvPr/>
          </p:nvSpPr>
          <p:spPr>
            <a:xfrm>
              <a:off x="741167" y="2331720"/>
              <a:ext cx="4800600" cy="1965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将反应、回复等具体功能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与人际讨论后果连接，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呈现不同维度的不同方向变化。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这细化了</a:t>
              </a:r>
              <a:r>
                <a:rPr sz="18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TIME</a:t>
              </a: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相关理解，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尚未直接检验完整心理机制。</a:t>
              </a:r>
            </a:p>
          </p:txBody>
        </p:sp>
      </p:grpSp>
      <p:grpSp>
        <p:nvGrpSpPr>
          <p:cNvPr id="10" name="GROUP_contribution_方法价值"/>
          <p:cNvGrpSpPr/>
          <p:nvPr/>
        </p:nvGrpSpPr>
        <p:grpSpPr>
          <a:xfrm>
            <a:off x="6409944" y="1481328"/>
            <a:ext cx="5239512" cy="3246120"/>
            <a:chOff x="6409944" y="1481328"/>
            <a:chExt cx="5239512" cy="3246120"/>
          </a:xfrm>
        </p:grpSpPr>
        <p:sp>
          <p:nvSpPr>
            <p:cNvPr id="11" name="FRAME_contribution_方法价值"/>
            <p:cNvSpPr/>
            <p:nvPr/>
          </p:nvSpPr>
          <p:spPr>
            <a:xfrm>
              <a:off x="6409944" y="1481328"/>
              <a:ext cx="5239512" cy="324612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ABEL_contribution_方法价值"/>
            <p:cNvSpPr txBox="1"/>
            <p:nvPr/>
          </p:nvSpPr>
          <p:spPr>
            <a:xfrm>
              <a:off x="6611112" y="1691640"/>
              <a:ext cx="4800600" cy="38404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方法价值</a:t>
              </a:r>
            </a:p>
          </p:txBody>
        </p:sp>
        <p:sp>
          <p:nvSpPr>
            <p:cNvPr id="13" name="BODY_contribution_方法价值"/>
            <p:cNvSpPr txBox="1"/>
            <p:nvPr/>
          </p:nvSpPr>
          <p:spPr>
            <a:xfrm>
              <a:off x="6611112" y="2331720"/>
              <a:ext cx="4800600" cy="1965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在受控平台上随机比较功能条件，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利用实际讨论行为记录，</a:t>
              </a: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观察文字贡献、回应结构与立场分布。</a:t>
              </a:r>
            </a:p>
          </p:txBody>
        </p:sp>
      </p:grpSp>
      <p:sp>
        <p:nvSpPr>
          <p:cNvPr id="14" name="LABEL_evaluation_boundary"/>
          <p:cNvSpPr txBox="1"/>
          <p:nvPr/>
        </p:nvSpPr>
        <p:spPr>
          <a:xfrm>
            <a:off x="540000" y="5111496"/>
            <a:ext cx="1828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评价边界</a:t>
            </a:r>
          </a:p>
        </p:txBody>
      </p:sp>
      <p:sp>
        <p:nvSpPr>
          <p:cNvPr id="15" name="BODY_evaluation_boundary"/>
          <p:cNvSpPr txBox="1"/>
          <p:nvPr/>
        </p:nvSpPr>
        <p:spPr>
          <a:xfrm>
            <a:off x="540000" y="5513832"/>
            <a:ext cx="111120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这些测量没有覆盖讨论质量的全部含义，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也不能直接推出所有平台应增减某种功能。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两项需要保留的证据边界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作者说明依据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页；评价与补充检查为汇报者判断。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lang="en-US" sz="1000" dirty="0"/>
          </a:p>
        </p:txBody>
      </p:sp>
      <p:grpSp>
        <p:nvGrpSpPr>
          <p:cNvPr id="6" name="GROUP_limit_分析样本"/>
          <p:cNvGrpSpPr/>
          <p:nvPr/>
        </p:nvGrpSpPr>
        <p:grpSpPr>
          <a:xfrm>
            <a:off x="540000" y="1435608"/>
            <a:ext cx="11112000" cy="2194560"/>
            <a:chOff x="540000" y="1435608"/>
            <a:chExt cx="11112000" cy="2194560"/>
          </a:xfrm>
        </p:grpSpPr>
        <p:sp>
          <p:nvSpPr>
            <p:cNvPr id="7" name="FRAME_limit_分析样本"/>
            <p:cNvSpPr/>
            <p:nvPr/>
          </p:nvSpPr>
          <p:spPr>
            <a:xfrm>
              <a:off x="540000" y="1435608"/>
              <a:ext cx="11112000" cy="219456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ABEL_limit_分析样本"/>
            <p:cNvSpPr txBox="1"/>
            <p:nvPr/>
          </p:nvSpPr>
          <p:spPr>
            <a:xfrm>
              <a:off x="722880" y="1554480"/>
              <a:ext cx="10746240" cy="34747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分析样本</a:t>
              </a:r>
            </a:p>
          </p:txBody>
        </p:sp>
        <p:sp>
          <p:nvSpPr>
            <p:cNvPr id="9" name="LABEL_author_分析样本"/>
            <p:cNvSpPr txBox="1"/>
            <p:nvPr/>
          </p:nvSpPr>
          <p:spPr>
            <a:xfrm>
              <a:off x="722880" y="2075688"/>
              <a:ext cx="4846320" cy="30175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作者说明（译述）</a:t>
              </a:r>
            </a:p>
          </p:txBody>
        </p:sp>
        <p:sp>
          <p:nvSpPr>
            <p:cNvPr id="10" name="LABEL_evaluation_分析样本"/>
            <p:cNvSpPr txBox="1"/>
            <p:nvPr/>
          </p:nvSpPr>
          <p:spPr>
            <a:xfrm>
              <a:off x="6638544" y="2075688"/>
              <a:ext cx="4617720" cy="30175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评价与补充检查</a:t>
              </a:r>
            </a:p>
          </p:txBody>
        </p:sp>
        <p:sp>
          <p:nvSpPr>
            <p:cNvPr id="11" name="BODY_author_分析样本"/>
            <p:cNvSpPr txBox="1"/>
            <p:nvPr/>
          </p:nvSpPr>
          <p:spPr>
            <a:xfrm>
              <a:off x="722880" y="2487168"/>
              <a:ext cx="5120640" cy="81381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关注讨论贡献者的行为；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273</a:t>
              </a: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名未发消息者未纳入主要分析。</a:t>
              </a:r>
            </a:p>
          </p:txBody>
        </p:sp>
        <p:sp>
          <p:nvSpPr>
            <p:cNvPr id="12" name="BODY_evaluation_分析样本"/>
            <p:cNvSpPr txBox="1"/>
            <p:nvPr/>
          </p:nvSpPr>
          <p:spPr>
            <a:xfrm>
              <a:off x="6638544" y="2487168"/>
              <a:ext cx="4617720" cy="9784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若功能影响谁开口，</a:t>
              </a: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发言者子样本可能产生选择问题。</a:t>
              </a: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补充检查：比较各条件发言比例。</a:t>
              </a:r>
            </a:p>
          </p:txBody>
        </p:sp>
      </p:grpSp>
      <p:grpSp>
        <p:nvGrpSpPr>
          <p:cNvPr id="13" name="GROUP_limit_预注册与当前分析"/>
          <p:cNvGrpSpPr/>
          <p:nvPr/>
        </p:nvGrpSpPr>
        <p:grpSpPr>
          <a:xfrm>
            <a:off x="540000" y="3840480"/>
            <a:ext cx="11112000" cy="2267712"/>
            <a:chOff x="540000" y="3840480"/>
            <a:chExt cx="11112000" cy="2267712"/>
          </a:xfrm>
        </p:grpSpPr>
        <p:sp>
          <p:nvSpPr>
            <p:cNvPr id="14" name="FRAME_limit_预注册与当前分析"/>
            <p:cNvSpPr/>
            <p:nvPr/>
          </p:nvSpPr>
          <p:spPr>
            <a:xfrm>
              <a:off x="540000" y="3840480"/>
              <a:ext cx="11112000" cy="2267712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ABEL_limit_预注册与当前分析"/>
            <p:cNvSpPr txBox="1"/>
            <p:nvPr/>
          </p:nvSpPr>
          <p:spPr>
            <a:xfrm>
              <a:off x="722880" y="3959352"/>
              <a:ext cx="10746240" cy="34747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预注册与当前分析</a:t>
              </a:r>
            </a:p>
          </p:txBody>
        </p:sp>
        <p:sp>
          <p:nvSpPr>
            <p:cNvPr id="16" name="LABEL_author_预注册与当前分析"/>
            <p:cNvSpPr txBox="1"/>
            <p:nvPr/>
          </p:nvSpPr>
          <p:spPr>
            <a:xfrm>
              <a:off x="722880" y="4480560"/>
              <a:ext cx="4846320" cy="30175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作者说明（译述）</a:t>
              </a:r>
            </a:p>
          </p:txBody>
        </p:sp>
        <p:sp>
          <p:nvSpPr>
            <p:cNvPr id="17" name="LABEL_evaluation_预注册与当前分析"/>
            <p:cNvSpPr txBox="1"/>
            <p:nvPr/>
          </p:nvSpPr>
          <p:spPr>
            <a:xfrm>
              <a:off x="6638544" y="4480560"/>
              <a:ext cx="4617720" cy="301752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1C3B70"/>
                  </a:solidFill>
                  <a:latin typeface="Source Han Sans CN Light"/>
                  <a:ea typeface="Source Han Sans CN Light"/>
                  <a:cs typeface="Source Han Sans CN Light"/>
                </a:rPr>
                <a:t>评价与补充检查</a:t>
              </a:r>
            </a:p>
          </p:txBody>
        </p:sp>
        <p:sp>
          <p:nvSpPr>
            <p:cNvPr id="18" name="BODY_author_预注册与当前分析"/>
            <p:cNvSpPr txBox="1"/>
            <p:nvPr/>
          </p:nvSpPr>
          <p:spPr>
            <a:xfrm>
              <a:off x="722880" y="4892040"/>
              <a:ext cx="5120640" cy="81381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部分预注册语言质量检验未显著；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当前重点转向内部包容性。</a:t>
              </a:r>
            </a:p>
          </p:txBody>
        </p:sp>
        <p:sp>
          <p:nvSpPr>
            <p:cNvPr id="19" name="BODY_evaluation_预注册与当前分析"/>
            <p:cNvSpPr txBox="1"/>
            <p:nvPr/>
          </p:nvSpPr>
          <p:spPr>
            <a:xfrm>
              <a:off x="6638544" y="4892040"/>
              <a:ext cx="4617720" cy="9784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当前检验需逐项对照注册方案；</a:t>
              </a: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不一概称为确认性，</a:t>
              </a:r>
            </a:p>
            <a:p>
              <a:pPr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也不一概断定为事后发现。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回到开场：界面功能如何评价？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页。原论文开放获取（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CC BY 4.0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lang="en-US" sz="1000" dirty="0"/>
          </a:p>
        </p:txBody>
      </p:sp>
      <p:sp>
        <p:nvSpPr>
          <p:cNvPr id="6" name="BODY_final_conclusion"/>
          <p:cNvSpPr txBox="1"/>
          <p:nvPr/>
        </p:nvSpPr>
        <p:spPr>
          <a:xfrm>
            <a:off x="540000" y="1865376"/>
            <a:ext cx="11112000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文字减少，不等于参与全面衰退。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回复链加深，不等于讨论全面改善。</a:t>
            </a:r>
          </a:p>
        </p:txBody>
      </p:sp>
      <p:sp>
        <p:nvSpPr>
          <p:cNvPr id="7" name="BODY_overall_judgment"/>
          <p:cNvSpPr txBox="1"/>
          <p:nvPr/>
        </p:nvSpPr>
        <p:spPr>
          <a:xfrm>
            <a:off x="540000" y="3877056"/>
            <a:ext cx="1111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结合目标、指标与适用范围，评价界面功能。</a:t>
            </a:r>
          </a:p>
        </p:txBody>
      </p:sp>
      <p:sp>
        <p:nvSpPr>
          <p:cNvPr id="8" name="SOURCE_final_bibliography"/>
          <p:cNvSpPr txBox="1"/>
          <p:nvPr/>
        </p:nvSpPr>
        <p:spPr>
          <a:xfrm>
            <a:off x="540000" y="4892040"/>
            <a:ext cx="1111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JCMC, 31(3), zmag008</a:t>
            </a:r>
          </a:p>
        </p:txBody>
      </p:sp>
      <p:sp>
        <p:nvSpPr>
          <p:cNvPr id="9" name="SOURCE_DOI_clickable"/>
          <p:cNvSpPr txBox="1"/>
          <p:nvPr/>
        </p:nvSpPr>
        <p:spPr>
          <a:xfrm>
            <a:off x="540000" y="5431536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1"/>
              </a:rPr>
              <a:t>https://doi.org/10.1093/jcmc/zmag008</a:t>
            </a:r>
          </a:p>
        </p:txBody>
      </p:sp>
      <p:sp>
        <p:nvSpPr>
          <p:cNvPr id="10" name="SOURCE_real_pdf_link"/>
          <p:cNvSpPr txBox="1"/>
          <p:nvPr/>
        </p:nvSpPr>
        <p:spPr>
          <a:xfrm>
            <a:off x="8869680" y="5431536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  <a:hlinkClick r:id="rId4"/>
              </a:rPr>
              <a:t>获取论文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4"/>
              </a:rPr>
              <a:t> 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实验怎样进行？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1A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Procedure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04</a:t>
            </a:r>
            <a:endParaRPr lang="en-US" sz="1000" dirty="0"/>
          </a:p>
        </p:txBody>
      </p:sp>
      <p:sp>
        <p:nvSpPr>
          <p:cNvPr id="6" name="CAPTION_figure1A"/>
          <p:cNvSpPr txBox="1"/>
          <p:nvPr/>
        </p:nvSpPr>
        <p:spPr>
          <a:xfrm>
            <a:off x="540000" y="1344168"/>
            <a:ext cx="1111200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图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1A</a:t>
            </a: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：研究流程示意，不是实验结果图</a:t>
            </a:r>
          </a:p>
        </p:txBody>
      </p:sp>
      <p:pic>
        <p:nvPicPr>
          <p:cNvPr id="7" name="EVIDENCE_original_figure1A" descr="figure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905773"/>
            <a:ext cx="6355080" cy="4354044"/>
          </a:xfrm>
          <a:prstGeom prst="rect">
            <a:avLst/>
          </a:prstGeom>
        </p:spPr>
      </p:pic>
      <p:sp>
        <p:nvSpPr>
          <p:cNvPr id="8" name="LABEL_procedure_前测"/>
          <p:cNvSpPr txBox="1"/>
          <p:nvPr/>
        </p:nvSpPr>
        <p:spPr>
          <a:xfrm>
            <a:off x="7452360" y="1938528"/>
            <a:ext cx="417880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前测</a:t>
            </a:r>
          </a:p>
        </p:txBody>
      </p:sp>
      <p:sp>
        <p:nvSpPr>
          <p:cNvPr id="9" name="BODY_procedure_前测"/>
          <p:cNvSpPr txBox="1"/>
          <p:nvPr/>
        </p:nvSpPr>
        <p:spPr>
          <a:xfrm>
            <a:off x="7452360" y="2359152"/>
            <a:ext cx="4178808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人口信息与政策态度</a:t>
            </a:r>
          </a:p>
        </p:txBody>
      </p:sp>
      <p:sp>
        <p:nvSpPr>
          <p:cNvPr id="10" name="LABEL_procedure_匹配入室"/>
          <p:cNvSpPr txBox="1"/>
          <p:nvPr/>
        </p:nvSpPr>
        <p:spPr>
          <a:xfrm>
            <a:off x="7452360" y="3054096"/>
            <a:ext cx="417880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匹配入室</a:t>
            </a:r>
          </a:p>
        </p:txBody>
      </p:sp>
      <p:sp>
        <p:nvSpPr>
          <p:cNvPr id="11" name="BODY_procedure_匹配入室"/>
          <p:cNvSpPr txBox="1"/>
          <p:nvPr/>
        </p:nvSpPr>
        <p:spPr>
          <a:xfrm>
            <a:off x="7452360" y="3474720"/>
            <a:ext cx="4178808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完成前测后，进入已随机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指定功能条件的聊天室</a:t>
            </a:r>
          </a:p>
        </p:txBody>
      </p:sp>
      <p:sp>
        <p:nvSpPr>
          <p:cNvPr id="12" name="LABEL_procedure_讨论与后测"/>
          <p:cNvSpPr txBox="1"/>
          <p:nvPr/>
        </p:nvSpPr>
        <p:spPr>
          <a:xfrm>
            <a:off x="7452360" y="4535424"/>
            <a:ext cx="417880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讨论与后测</a:t>
            </a:r>
          </a:p>
        </p:txBody>
      </p:sp>
      <p:sp>
        <p:nvSpPr>
          <p:cNvPr id="13" name="BODY_procedure_讨论与后测"/>
          <p:cNvSpPr txBox="1"/>
          <p:nvPr/>
        </p:nvSpPr>
        <p:spPr>
          <a:xfrm>
            <a:off x="7452360" y="4956048"/>
            <a:ext cx="4178808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讨论约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分钟，随后测量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讨论评价与政策态度</a:t>
            </a:r>
          </a:p>
        </p:txBody>
      </p:sp>
      <p:sp>
        <p:nvSpPr>
          <p:cNvPr id="14" name="BODY_room_randomization"/>
          <p:cNvSpPr txBox="1"/>
          <p:nvPr/>
        </p:nvSpPr>
        <p:spPr>
          <a:xfrm>
            <a:off x="7452360" y="5870448"/>
            <a:ext cx="41788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随机化单位：聊天室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