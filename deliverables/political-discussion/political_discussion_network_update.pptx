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【口述】</a:t>
            </a:r>
          </a:p>
          <a:p>
            <a:r>
              <a:t>今天介绍反应与回复如何改变政治讨论。这篇论文发表于二〇二六年的JCMC，由牛津大学出版社代表国际传播学会出版。第一兼通讯作者是Kokil Jaidka，论文署名机构是新加坡国立大学传播与新媒体系。</a:t>
            </a:r>
          </a:p>
          <a:p/>
          <a:p>
            <a:r>
              <a:t>【制作备查，不朗读】</a:t>
            </a:r>
          </a:p>
          <a:p>
            <a:r>
              <a:t>计划讲述预算：18秒（计划预算；全场另预留约32秒指图、切页与停顿）。</a:t>
            </a:r>
          </a:p>
          <a:p>
            <a:r>
              <a:t>已读取本会话现有PPT的全部页面与备注。文档指定的scratch路径及political_discussion(2).pptx在当前环境不可用，实际底稿为本会话上次交付版，其页面状态与文档逐项吻合。论文首页核实：第一作者及通讯作者为Kokil Jaidka；论文署名机构为Department of Communications and New Media, National University of Singapore。其他署名机构包括University of Minnesota、University of Pennsylvania、University of Wisconsin–Madison。出版行为是Oxford University Press代表International Communication Association。机构是论文署名信息，不代表当前任职。英文题名按PDF第1页保留。不朗读完整英文题名或全部作者名单，不补充影响因子、排名、职称或荣誉。汇报人未提供，保留[姓名]。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【口述】</a:t>
            </a:r>
          </a:p>
          <a:p>
            <a:r>
              <a:t>先看同一个假想群聊。几位成员各回一句“同意”，也可以把赞同附着在原消息下面。文字少了，是否就意味着参与减少？如果再提供定向回复，讨论是否一定更好？这引出本次汇报概括的总问题：反应与回复的可用性，如何影响政治讨论中的参与、互动与多样性？下面先把功能和概念说清楚。</a:t>
            </a:r>
          </a:p>
          <a:p/>
          <a:p>
            <a:r>
              <a:t>【制作备查，不朗读】</a:t>
            </a:r>
          </a:p>
          <a:p>
            <a:r>
              <a:t>计划讲述预算：约36秒。</a:t>
            </a:r>
          </a:p>
          <a:p>
            <a:r>
              <a:t>本页为原生可编辑的假想聊天室示意，不对应QQ、飞书或任何具体平台的真实界面，也不是实验数据。右侧快捷反应附着于原消息，其成员标签为匿名B、C、D；不是独立发送的一条表情消息。总研究问题为汇报者概括，不是论文RQ1或RQ2的逐字翻译；原文RQ1/RQ2分别聚焦反应及回复与多样性的关系（PDF第3页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【口述】</a:t>
            </a:r>
          </a:p>
          <a:p>
            <a:r>
              <a:t>反应是附着在消息上的快捷正、负反馈；回复则是指向某条消息的定向文字回应功能。没有这个按钮，也仍能用普通文字回应别人。</a:t>
            </a:r>
          </a:p>
          <a:p/>
          <a:p>
            <a:r>
              <a:t>作者借助TIME思考，界面操作方式如何影响人与人之间的交流。这里关注的是讨论内部的贡献、回应联系和观点分布，分别用参与、互动和多样性三组行为指标观察，并不覆盖讨论质量的全部含义。</a:t>
            </a:r>
          </a:p>
          <a:p/>
          <a:p>
            <a:r>
              <a:t>作者预期，反应可能减少继续打字的需要，降低参与和互动；回复可能维持来回交流，增加两者。多样性的方向则保持开放。这些心理解释尚未被直接检验。</a:t>
            </a:r>
          </a:p>
          <a:p/>
          <a:p>
            <a:r>
              <a:t>【制作备查，不朗读】</a:t>
            </a:r>
          </a:p>
          <a:p>
            <a:r>
              <a:t>计划讲述预算：约63秒。</a:t>
            </a:r>
          </a:p>
          <a:p>
            <a:r>
              <a:t>PDF第2页Our work is grounded段及Background；第3页Hypotheses and research questions。H1/H2原文截图直接复用底稿，未改字；对应功能可用相对不可用。TIME全称为Theory of Interactive Media Effects。不是首次发现互动性有多个维度，也未验证完整心理中介路径。内部包容性与发言者分析范围需结合第14页作者说明理解。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【口述】</a:t>
            </a:r>
          </a:p>
          <a:p>
            <a:r>
              <a:t>研究先做前测，再进入自建同步聊天室，随机分配四种功能条件；讨论后再做后测。反应和回复各有可用与不可用两种状态，随机分配在聊天室层面进行，四组都能发送普通文字。</a:t>
            </a:r>
          </a:p>
          <a:p/>
          <a:p>
            <a:r>
              <a:t>参与者是美国成年人，围绕社交媒体内容监管讨论约二十八分钟。共有一千六百四十三人进入，主要行为分析使用一千三百七十名发言者的记录。</a:t>
            </a:r>
          </a:p>
          <a:p/>
          <a:p>
            <a:r>
              <a:t>分析采用混合效应回归，考虑同一聊天室成员之间的关联。比较的是这些功能条件及配套说明、提示，不是不同平台，也不能把结果完全归因于脱离提示情境的按钮本身。</a:t>
            </a:r>
          </a:p>
          <a:p/>
          <a:p>
            <a:r>
              <a:t>【制作备查，不朗读】</a:t>
            </a:r>
          </a:p>
          <a:p>
            <a:r>
              <a:t>计划讲述预算：约53秒。</a:t>
            </a:r>
          </a:p>
          <a:p>
            <a:r>
              <a:t>PDF第3—4页：自建浏览器平台，按聊天室随机分配；第4页美国18岁以上参与者、约28分钟及条件说明、固定话题提示。第5页表1原人数矩阵：回复无／反应无399；回复无／反应有408；回复有／反应无420；回复有／反应有416。第6页正文写最多416，与表1的420不一致；本页中文矩阵保留表1原数，不擅改，不报告399—416区间，台上不逐格念人数。第6页：1,643进入、273未发消息、1,370发言者；分析包含聊天室随机截距，控制人口与党派变量，报告多重比较调整。本页仅用简短方法标签，不展开公式。</a:t>
            </a:r>
          </a:p>
          <a:p>
            <a:r>
              <a:t>新增流程依据原文图1A与PDF第4页Procedure。仅在原设计矩阵上方补简短流程，不重复放入完整图1A，不添加网络指标或新的分析结果。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【口述】</a:t>
            </a:r>
          </a:p>
          <a:p>
            <a:r>
              <a:t>为解释指标，先看右侧图1B。左边以消息为节点，用回应关系把消息连起来；右边汇总到参与者之间，边上的数字表示回应次数。作者也编码隐含文字回应，不只是按钮点击。</a:t>
            </a:r>
          </a:p>
          <a:p/>
          <a:p>
            <a:r>
              <a:t>本次选四项代表指标，并非全部测量。数量、长度观察文字贡献；最大链深观察连续回应结构；立场多样性观察立场分布。消息长、链条深都不能直接代表论证质量，立场分布也不等于实际理解程度。</a:t>
            </a:r>
          </a:p>
          <a:p/>
          <a:p>
            <a:r>
              <a:t>【制作备查，不朗读】</a:t>
            </a:r>
          </a:p>
          <a:p>
            <a:r>
              <a:t>计划讲述预算：约43秒。</a:t>
            </a:r>
          </a:p>
          <a:p>
            <a:r>
              <a:t>依据PDF第5页Participation、Engagement、Diversity measures及Deriving content features。第5页原文Message elaboration定义为median message length (in words)，第6页描述性统计又用characters。本页沿用“消息长度中位数”中性名称，不擅自统一单位。Conversation depth是回复链最大嵌套层级；Shannon diversity以立场比例计算。人工编码功能性回应，包含正式Reply点击与隐含文字引用。主表从底稿原生表格保留，未改成栅格图。</a:t>
            </a:r>
          </a:p>
          <a:p>
            <a:r>
              <a:t>新增原文图1B：直接从PDF第4页内嵌图1提取B面板（图像xref115，原图2005×668像素，截取x=975至2005全高）。完整保留两个网络、所有节点、箭头与边权，没有重绘或改动关系。原文图注说明左侧节点是消息、右侧节点是参与者，右侧边权为一名参与者回应另一名参与者的次数。该图用于网络构建说明，不是实验结果图，也不能说明所有指标都来自同一网络；消息数量、长度、立场分布还依赖各自的行为／编码信息。原表文本、字号、行高与四项代表指标保留，仅调整列宽。原质量解释保留于本页口述／备查及后续第6—7页。新增方法解释通过精简重复讲述容纳，仍未实际试讲8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【口述】</a:t>
            </a:r>
          </a:p>
          <a:p>
            <a:r>
              <a:t>图中每个点是功能可用相对不可用的模型差异，虚线零代表无差异。先看绿色，也就是反应功能的效应。消息数量低于零，消息长度高于零，两者都达到统计显著。</a:t>
            </a:r>
          </a:p>
          <a:p/>
          <a:p>
            <a:r>
              <a:t>因此，反应可用时文字消息较少，典型单条更长，参与下降的预期只得到部分支持。简短打字被快捷反应替代，是与结果相容的可能解释，但没有直接检验；消息更长，也不直接代表表达质量更高。</a:t>
            </a:r>
          </a:p>
          <a:p/>
          <a:p>
            <a:r>
              <a:t>【制作备查，不朗读】</a:t>
            </a:r>
          </a:p>
          <a:p>
            <a:r>
              <a:t>计划讲述预算：约48秒。</a:t>
            </a:r>
          </a:p>
          <a:p>
            <a:r>
              <a:t>保留底稿图2用户层面前两个面板的同一PNG媒体字节（PDF第10页）。原始绿橙色、零线、刻度、误差线和显著性符号均保留；共享横轴标签、纵轴单位与图例来自同一原图。绿=Allow Reactions效应，橙=Allow Replies效应，不是两组互斥样本。误差线为±SE，非95%置信区间；显著性看原图符号与正文，不用跨零与否替代通常显著性判断。系数不是消息均值或百分比，变量曾作[0,1]缩放；不直接比较不同指标系数的实质效应大小。正文第6页H1a部分支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【口述】</a:t>
            </a:r>
          </a:p>
          <a:p>
            <a:r>
              <a:t>接着看回复功能可用相对不可用的差异，这次关注橙色点。左图回复链更深，右图基于立场分布的多样性下降，两个结果都显著。</a:t>
            </a:r>
          </a:p>
          <a:p/>
          <a:p>
            <a:r>
              <a:t>回复增加文字参与的预期没有得到支持，增加互动也只部分得到支持，因为其他几项互动指标没有显著改善。与前页合起来，功能对不同指标的影响并没有共同改善，这就是这里所说的权衡。</a:t>
            </a:r>
          </a:p>
          <a:p/>
          <a:p>
            <a:r>
              <a:t>结构更深不是论证更深，立场多样性也不是全部多样性。权衡不是零和关系，更不等于统计交互效应。</a:t>
            </a:r>
          </a:p>
          <a:p/>
          <a:p>
            <a:r>
              <a:t>【制作备查，不朗读】</a:t>
            </a:r>
          </a:p>
          <a:p>
            <a:r>
              <a:t>计划讲述预算：约53秒。</a:t>
            </a:r>
          </a:p>
          <a:p>
            <a:r>
              <a:t>原始证据：PDF第12页图内标题Effects of Interactive features on Engagement、第三列Conversation Depth的用户层面面板；PDF第11页图内标题Effects of Interactive features on Diversity、第三列Shannon Diversity的用户层面面板。图注却把第11页标成engagement/Figure 3，第12页标成diversity/Figure 4，存在不对应；据变量名、图内标题及第6页正文共同定位，未只靠图号。保留原图数据面板、共享纵轴刻度、Coefficient (±SE)、功能文字和完整图例。原始共享功能标签单独摘取，按效应点顺序对齐；没有重画系数或误差线。所有展示均为用户层面，不能跨指标直接比较系数的实质影响大小。原表3放入备查：反应对应消息数量下降、链深无显著变化、立场多样性上升；回复对应消息数量未见明确增加、链深上升、立场多样性下降。回复消息数量／长度在表3标记边际结果，按正文H2a未获支持处理。正文第6页支持链深β=0.022、SE=0.007、p&lt;.01，立场Shannon β=-0.060、SE=0.019、p&lt;.01；不在口述中逐项念数值。第14页未发现功能间显著交互，且检验力存在边界。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【口述】</a:t>
            </a:r>
          </a:p>
          <a:p>
            <a:r>
              <a:t>这项研究具体增加了两方面认识。理论与问题上，它把抽象的互动性落实到反应、回复等可操纵功能，观察不同讨论维度的行为后果。方法与对象上，它在受控平台随机比较功能条件，使用实际讨论行为记录。</a:t>
            </a:r>
          </a:p>
          <a:p/>
          <a:p>
            <a:r>
              <a:t>这为功能评价提供了更细的视角，但没有直接验证完整心理机制，也不能覆盖讨论质量的全部含义。设计者仍需先明确讨论目标，并在具体平台和场景中继续验证，而不能直接推出所有平台都该增减同一个按钮。</a:t>
            </a:r>
          </a:p>
          <a:p/>
          <a:p>
            <a:r>
              <a:t>【制作备查，不朗读】</a:t>
            </a:r>
          </a:p>
          <a:p>
            <a:r>
              <a:t>计划讲述预算：约43秒。</a:t>
            </a:r>
          </a:p>
          <a:p>
            <a:r>
              <a:t>依据PDF第2页研究贡献以及第10—14页Discussion和Limitations。页面英文证据摘录为PDF第10页右栏完整句：“Our experiment isolates reactions and replies and traces their behavioral consequences, extending observational research on how these structures organize discussion.”并非从半句话开始，不携带Three key findings emerge等依赖后文的尾句。中文模块为基于原文的概括，并明确区分受控功能比较与未测量心理机制。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【口述】</a:t>
            </a:r>
          </a:p>
          <a:p>
            <a:r>
              <a:t>这里保留两个主要问题。第一，作者把范围限定在讨论贡献者的行为，因此主要分析没有包括二百七十三名未发消息者。这个范围说明有道理，但如果功能也影响谁愿意开口，留下的发言者子样本就可能有选择问题。可补充比较各条件的发言比例；这是一项待核验风险，不是已经证明随机化完全失效。</a:t>
            </a:r>
          </a:p>
          <a:p/>
          <a:p>
            <a:r>
              <a:t>第二，作者公开说明，部分预注册语言质量检验未显著，当前重点转向内部包容性。哪些当前检验属于事前计划，仍要逐项对照注册方案，不能一概称为确认性，也不能一概断定为事后发现。</a:t>
            </a:r>
          </a:p>
          <a:p/>
          <a:p>
            <a:r>
              <a:t>【制作备查，不朗读】</a:t>
            </a:r>
          </a:p>
          <a:p>
            <a:r>
              <a:t>计划讲述预算：约63秒。</a:t>
            </a:r>
          </a:p>
          <a:p>
            <a:r>
              <a:t>依据PDF第12页末及第14页左栏。作者说明采用标明“译述”的可编辑中文与完整英文引文，以保留分析范围和预注册说明的上下文，而非只摘出273数字。未发言者可能阅读或使用其他功能，不可统称没有参与；消息数量可以有意义记零，但长度和立场多样性不能机械填零。作者的概念性范围说明并不自动消除统计选择风险。没有逐项检查外部OSF注册方案，也未重跑排除者分析、检验各条件发言比例；不把风险写成已证实偏差，不宣称全部假设事后提出或反复修改模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【口述】</a:t>
            </a:r>
          </a:p>
          <a:p>
            <a:r>
              <a:t>回到开场，文字减少不等于参与全面衰退，回复链加深也不等于讨论全面改善。更合适的做法，是结合目标、指标和适用范围评价界面功能。这里保留了文献DOI和论文PDF入口，方便继续阅读。谢谢大家。</a:t>
            </a:r>
          </a:p>
          <a:p/>
          <a:p>
            <a:r>
              <a:t>【制作备查，不朗读】</a:t>
            </a:r>
          </a:p>
          <a:p>
            <a:r>
              <a:t>计划讲述预算：约28秒。</a:t>
            </a:r>
          </a:p>
          <a:p>
            <a:r>
              <a:t>保留真实DOI超链接。原论文PDF入口指向同一GitHub仓库内用户上传的zmag008.pdf，发布后核对远端原文件字节；论文首页明确为CC BY 4.0开放获取，书目信息及DOI随文件保留。没有虚构二维码、无效占位框或新增统计发现。全稿口述时间为计划预算：18+36+63+53+43+48+53+43+63+28=448秒，另留约32秒机动；没有实际试讲，不据此宣称已验证8分钟。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hyperlink" Target="https://doi.org/10.1093/jcmc/zmag008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Relationship Id="rId4" Type="http://schemas.openxmlformats.org/officeDocument/2006/relationships/hyperlink" Target="https://github.com/2901737437-hub/codex-demo/raw/refs/heads/presentation/political-discussion/deliverables/political-discussion/zmag008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RCE_footer"/>
          <p:cNvSpPr/>
          <p:nvPr/>
        </p:nvSpPr>
        <p:spPr>
          <a:xfrm>
            <a:off x="997199" y="6382512"/>
            <a:ext cx="1019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Jaidka et al. (2026), Journal of Computer-Mediated Communication 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·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 doi.org/10.1093/jcmc/zmag008</a:t>
            </a:r>
            <a:endParaRPr lang="en-US" sz="1000" dirty="0"/>
          </a:p>
        </p:txBody>
      </p:sp>
      <p:sp>
        <p:nvSpPr>
          <p:cNvPr id="3" name="PAGE_NUMBER_footer"/>
          <p:cNvSpPr/>
          <p:nvPr/>
        </p:nvSpPr>
        <p:spPr>
          <a:xfrm>
            <a:off x="11341104" y="6519672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1000" dirty="0"/>
          </a:p>
        </p:txBody>
      </p:sp>
      <p:sp>
        <p:nvSpPr>
          <p:cNvPr id="4" name="TITLE_cover"/>
          <p:cNvSpPr txBox="1"/>
          <p:nvPr/>
        </p:nvSpPr>
        <p:spPr>
          <a:xfrm>
            <a:off x="540000" y="960120"/>
            <a:ext cx="10698480" cy="1508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C3B70"/>
                </a:solidFill>
                <a:latin typeface="Source Han Serif CN"/>
                <a:ea typeface="Source Han Serif CN"/>
                <a:cs typeface="Source Han Serif CN"/>
              </a:rPr>
              <a:t>反应与回复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C3B70"/>
                </a:solidFill>
                <a:latin typeface="Source Han Serif CN"/>
                <a:ea typeface="Source Han Serif CN"/>
                <a:cs typeface="Source Han Serif CN"/>
              </a:rPr>
              <a:t>如何改变政治讨论？</a:t>
            </a:r>
          </a:p>
        </p:txBody>
      </p:sp>
      <p:sp>
        <p:nvSpPr>
          <p:cNvPr id="5" name="BODY_subtitle"/>
          <p:cNvSpPr txBox="1"/>
          <p:nvPr/>
        </p:nvSpPr>
        <p:spPr>
          <a:xfrm>
            <a:off x="540000" y="2706624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参与、互动与多样性的实验检验</a:t>
            </a:r>
          </a:p>
        </p:txBody>
      </p:sp>
      <p:sp>
        <p:nvSpPr>
          <p:cNvPr id="6" name="RULE"/>
          <p:cNvSpPr/>
          <p:nvPr/>
        </p:nvSpPr>
        <p:spPr>
          <a:xfrm>
            <a:off x="540000" y="3621024"/>
            <a:ext cx="11112000" cy="548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OURCE_original_english_title"/>
          <p:cNvSpPr txBox="1"/>
          <p:nvPr/>
        </p:nvSpPr>
        <p:spPr>
          <a:xfrm>
            <a:off x="540000" y="3858768"/>
            <a:ext cx="111120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D3748"/>
                </a:solidFill>
                <a:latin typeface="Times New Roman"/>
                <a:ea typeface="Times New Roman"/>
                <a:cs typeface="Times New Roman"/>
              </a:rPr>
              <a:t>Designed for discourse: how reactions and replies create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D3748"/>
                </a:solidFill>
                <a:latin typeface="Times New Roman"/>
                <a:ea typeface="Times New Roman"/>
                <a:cs typeface="Times New Roman"/>
              </a:rPr>
              <a:t>trade-offs in political participation</a:t>
            </a:r>
          </a:p>
        </p:txBody>
      </p:sp>
      <p:sp>
        <p:nvSpPr>
          <p:cNvPr id="8" name="SOURCE_compact_bibliography"/>
          <p:cNvSpPr txBox="1"/>
          <p:nvPr/>
        </p:nvSpPr>
        <p:spPr>
          <a:xfrm>
            <a:off x="540000" y="4681728"/>
            <a:ext cx="111120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D3748"/>
                </a:solidFill>
                <a:latin typeface="Times New Roman"/>
                <a:ea typeface="Times New Roman"/>
                <a:cs typeface="Times New Roman"/>
              </a:rPr>
              <a:t>Kokil Jaidka </a:t>
            </a:r>
            <a:r>
              <a:rPr sz="18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等</a:t>
            </a:r>
            <a:r>
              <a:rPr sz="1800" b="0">
                <a:solidFill>
                  <a:srgbClr val="2D3748"/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8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·</a:t>
            </a:r>
            <a:r>
              <a:rPr sz="1800" b="0">
                <a:solidFill>
                  <a:srgbClr val="2D3748"/>
                </a:solidFill>
                <a:latin typeface="Times New Roman"/>
                <a:ea typeface="Times New Roman"/>
                <a:cs typeface="Times New Roman"/>
              </a:rPr>
              <a:t>  2026  </a:t>
            </a:r>
            <a:r>
              <a:rPr sz="18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·</a:t>
            </a:r>
            <a:r>
              <a:rPr sz="1800" b="0">
                <a:solidFill>
                  <a:srgbClr val="2D3748"/>
                </a:solidFill>
                <a:latin typeface="Times New Roman"/>
                <a:ea typeface="Times New Roman"/>
                <a:cs typeface="Times New Roman"/>
              </a:rPr>
              <a:t>  JCMC, 31(3), zmag008</a:t>
            </a:r>
          </a:p>
        </p:txBody>
      </p:sp>
      <p:sp>
        <p:nvSpPr>
          <p:cNvPr id="9" name="SOURCE_author_affiliation"/>
          <p:cNvSpPr txBox="1"/>
          <p:nvPr/>
        </p:nvSpPr>
        <p:spPr>
          <a:xfrm>
            <a:off x="540000" y="5285232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第一作者／通讯作者：</a:t>
            </a:r>
            <a:r>
              <a:rPr sz="16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Kokil Jaidka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论文署名：新加坡国立大学传播与新媒体系</a:t>
            </a:r>
          </a:p>
        </p:txBody>
      </p:sp>
      <p:sp>
        <p:nvSpPr>
          <p:cNvPr id="10" name="BODY_presenter"/>
          <p:cNvSpPr txBox="1"/>
          <p:nvPr/>
        </p:nvSpPr>
        <p:spPr>
          <a:xfrm>
            <a:off x="9144000" y="5468112"/>
            <a:ext cx="24688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汇报人：</a:t>
            </a:r>
            <a:r>
              <a:rPr sz="1800" b="0">
                <a:solidFill>
                  <a:srgbClr val="2D3748"/>
                </a:solidFill>
                <a:latin typeface="Times New Roman"/>
                <a:ea typeface="Times New Roman"/>
                <a:cs typeface="Times New Roman"/>
              </a:rPr>
              <a:t>[</a:t>
            </a:r>
            <a:r>
              <a:rPr sz="18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姓名</a:t>
            </a:r>
            <a:r>
              <a:rPr sz="1800" b="0">
                <a:solidFill>
                  <a:srgbClr val="2D3748"/>
                </a:solidFill>
                <a:latin typeface="Times New Roman"/>
                <a:ea typeface="Times New Roman"/>
                <a:cs typeface="Times New Roman"/>
              </a:rPr>
              <a:t>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main"/>
          <p:cNvSpPr/>
          <p:nvPr/>
        </p:nvSpPr>
        <p:spPr>
          <a:xfrm>
            <a:off x="540000" y="540000"/>
            <a:ext cx="1111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1C3B70"/>
                </a:solidFill>
                <a:latin typeface="Source Han Serif CN"/>
                <a:ea typeface="Source Han Serif CN"/>
                <a:cs typeface="Source Han Serif CN"/>
              </a:rPr>
              <a:t>文字少了，参与就少了吗？</a:t>
            </a:r>
            <a:endParaRPr lang="en-US" sz="2400" dirty="0"/>
          </a:p>
        </p:txBody>
      </p:sp>
      <p:sp>
        <p:nvSpPr>
          <p:cNvPr id="3" name="TITLE_hairline"/>
          <p:cNvSpPr/>
          <p:nvPr/>
        </p:nvSpPr>
        <p:spPr>
          <a:xfrm>
            <a:off x="540000" y="1143000"/>
            <a:ext cx="11112000" cy="0"/>
          </a:xfrm>
          <a:prstGeom prst="line">
            <a:avLst/>
          </a:prstGeom>
          <a:noFill/>
          <a:ln w="6985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4" name="SOURCE_footer"/>
          <p:cNvSpPr/>
          <p:nvPr/>
        </p:nvSpPr>
        <p:spPr>
          <a:xfrm>
            <a:off x="997199" y="6382512"/>
            <a:ext cx="1019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情境演示，非实验数据；研究问题依据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 Jaidka 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等（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2026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），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PDF 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第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—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3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页概括。</a:t>
            </a:r>
            <a:endParaRPr lang="en-US" sz="1000" dirty="0"/>
          </a:p>
        </p:txBody>
      </p:sp>
      <p:sp>
        <p:nvSpPr>
          <p:cNvPr id="5" name="PAGE_NUMBER_footer"/>
          <p:cNvSpPr/>
          <p:nvPr/>
        </p:nvSpPr>
        <p:spPr>
          <a:xfrm>
            <a:off x="11341104" y="6519672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1000" dirty="0"/>
          </a:p>
        </p:txBody>
      </p:sp>
      <p:sp>
        <p:nvSpPr>
          <p:cNvPr id="6" name="LABEL_context_text_mode"/>
          <p:cNvSpPr txBox="1"/>
          <p:nvPr/>
        </p:nvSpPr>
        <p:spPr>
          <a:xfrm>
            <a:off x="540000" y="1380744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C3B70"/>
                </a:solidFill>
                <a:latin typeface="Source Han Sans CN Light"/>
                <a:ea typeface="Source Han Sans CN Light"/>
                <a:cs typeface="Source Han Sans CN Light"/>
              </a:rPr>
              <a:t>逐条文字回应</a:t>
            </a:r>
          </a:p>
        </p:txBody>
      </p:sp>
      <p:sp>
        <p:nvSpPr>
          <p:cNvPr id="7" name="LABEL_context_reaction_mode"/>
          <p:cNvSpPr txBox="1"/>
          <p:nvPr/>
        </p:nvSpPr>
        <p:spPr>
          <a:xfrm>
            <a:off x="6400800" y="1380744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C3B70"/>
                </a:solidFill>
                <a:latin typeface="Source Han Sans CN Light"/>
                <a:ea typeface="Source Han Sans CN Light"/>
                <a:cs typeface="Source Han Sans CN Light"/>
              </a:rPr>
              <a:t>附着快捷反应</a:t>
            </a:r>
          </a:p>
        </p:txBody>
      </p:sp>
      <p:grpSp>
        <p:nvGrpSpPr>
          <p:cNvPr id="8" name="GROUP_left_original"/>
          <p:cNvGrpSpPr/>
          <p:nvPr/>
        </p:nvGrpSpPr>
        <p:grpSpPr>
          <a:xfrm>
            <a:off x="540000" y="1938528"/>
            <a:ext cx="5212080" cy="841248"/>
            <a:chOff x="540000" y="1938528"/>
            <a:chExt cx="5212080" cy="841248"/>
          </a:xfrm>
        </p:grpSpPr>
        <p:sp>
          <p:nvSpPr>
            <p:cNvPr id="9" name="MESSAGE_left_original"/>
            <p:cNvSpPr/>
            <p:nvPr/>
          </p:nvSpPr>
          <p:spPr>
            <a:xfrm>
              <a:off x="540000" y="1938528"/>
              <a:ext cx="5212080" cy="841248"/>
            </a:xfrm>
            <a:prstGeom prst="rect">
              <a:avLst/>
            </a:prstGeom>
            <a:solidFill>
              <a:srgbClr val="FFFFFF"/>
            </a:solidFill>
            <a:ln w="825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LABEL_left_original_sender"/>
            <p:cNvSpPr txBox="1"/>
            <p:nvPr/>
          </p:nvSpPr>
          <p:spPr>
            <a:xfrm>
              <a:off x="658872" y="2002536"/>
              <a:ext cx="320040" cy="71323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0">
                  <a:solidFill>
                    <a:srgbClr val="1C3B70"/>
                  </a:solidFill>
                  <a:latin typeface="Times New Roman"/>
                  <a:ea typeface="Times New Roman"/>
                  <a:cs typeface="Times New Roman"/>
                </a:rPr>
                <a:t>A</a:t>
              </a:r>
            </a:p>
          </p:txBody>
        </p:sp>
        <p:sp>
          <p:nvSpPr>
            <p:cNvPr id="11" name="BODY_left_original_content"/>
            <p:cNvSpPr txBox="1"/>
            <p:nvPr/>
          </p:nvSpPr>
          <p:spPr>
            <a:xfrm>
              <a:off x="1134360" y="2002536"/>
              <a:ext cx="4480560" cy="71323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0">
                  <a:solidFill>
                    <a:srgbClr val="2D3748"/>
                  </a:solidFill>
                  <a:latin typeface="Source Han Sans CN Light"/>
                  <a:ea typeface="Source Han Sans CN Light"/>
                  <a:cs typeface="Source Han Sans CN Light"/>
                </a:rPr>
                <a:t>我认为平台应该删除冒犯性内容。</a:t>
              </a:r>
            </a:p>
          </p:txBody>
        </p:sp>
      </p:grpSp>
      <p:grpSp>
        <p:nvGrpSpPr>
          <p:cNvPr id="12" name="GROUP_response_B"/>
          <p:cNvGrpSpPr/>
          <p:nvPr/>
        </p:nvGrpSpPr>
        <p:grpSpPr>
          <a:xfrm>
            <a:off x="942336" y="2926080"/>
            <a:ext cx="4809744" cy="475488"/>
            <a:chOff x="942336" y="2926080"/>
            <a:chExt cx="4809744" cy="475488"/>
          </a:xfrm>
        </p:grpSpPr>
        <p:sp>
          <p:nvSpPr>
            <p:cNvPr id="13" name="MESSAGE_response_B"/>
            <p:cNvSpPr/>
            <p:nvPr/>
          </p:nvSpPr>
          <p:spPr>
            <a:xfrm>
              <a:off x="942336" y="2926080"/>
              <a:ext cx="4809744" cy="475488"/>
            </a:xfrm>
            <a:prstGeom prst="rect">
              <a:avLst/>
            </a:prstGeom>
            <a:solidFill>
              <a:srgbClr val="FFFFFF"/>
            </a:solidFill>
            <a:ln w="825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LABEL_response_B_sender"/>
            <p:cNvSpPr txBox="1"/>
            <p:nvPr/>
          </p:nvSpPr>
          <p:spPr>
            <a:xfrm>
              <a:off x="1061208" y="2990088"/>
              <a:ext cx="320040" cy="34747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0">
                  <a:solidFill>
                    <a:srgbClr val="1C3B70"/>
                  </a:solidFill>
                  <a:latin typeface="Times New Roman"/>
                  <a:ea typeface="Times New Roman"/>
                  <a:cs typeface="Times New Roman"/>
                </a:rPr>
                <a:t>B</a:t>
              </a:r>
            </a:p>
          </p:txBody>
        </p:sp>
        <p:sp>
          <p:nvSpPr>
            <p:cNvPr id="15" name="BODY_response_B_content"/>
            <p:cNvSpPr txBox="1"/>
            <p:nvPr/>
          </p:nvSpPr>
          <p:spPr>
            <a:xfrm>
              <a:off x="1536696" y="2990088"/>
              <a:ext cx="4078224" cy="34747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0">
                  <a:solidFill>
                    <a:srgbClr val="2D3748"/>
                  </a:solidFill>
                  <a:latin typeface="Source Han Sans CN Light"/>
                  <a:ea typeface="Source Han Sans CN Light"/>
                  <a:cs typeface="Source Han Sans CN Light"/>
                </a:rPr>
                <a:t>同意</a:t>
              </a:r>
            </a:p>
          </p:txBody>
        </p:sp>
      </p:grpSp>
      <p:grpSp>
        <p:nvGrpSpPr>
          <p:cNvPr id="16" name="GROUP_response_C"/>
          <p:cNvGrpSpPr/>
          <p:nvPr/>
        </p:nvGrpSpPr>
        <p:grpSpPr>
          <a:xfrm>
            <a:off x="942336" y="3493008"/>
            <a:ext cx="4809744" cy="475488"/>
            <a:chOff x="942336" y="3493008"/>
            <a:chExt cx="4809744" cy="475488"/>
          </a:xfrm>
        </p:grpSpPr>
        <p:sp>
          <p:nvSpPr>
            <p:cNvPr id="17" name="MESSAGE_response_C"/>
            <p:cNvSpPr/>
            <p:nvPr/>
          </p:nvSpPr>
          <p:spPr>
            <a:xfrm>
              <a:off x="942336" y="3493008"/>
              <a:ext cx="4809744" cy="475488"/>
            </a:xfrm>
            <a:prstGeom prst="rect">
              <a:avLst/>
            </a:prstGeom>
            <a:solidFill>
              <a:srgbClr val="FFFFFF"/>
            </a:solidFill>
            <a:ln w="825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LABEL_response_C_sender"/>
            <p:cNvSpPr txBox="1"/>
            <p:nvPr/>
          </p:nvSpPr>
          <p:spPr>
            <a:xfrm>
              <a:off x="1061208" y="3557015"/>
              <a:ext cx="320040" cy="34747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0">
                  <a:solidFill>
                    <a:srgbClr val="1C3B70"/>
                  </a:solidFill>
                  <a:latin typeface="Times New Roman"/>
                  <a:ea typeface="Times New Roman"/>
                  <a:cs typeface="Times New Roman"/>
                </a:rPr>
                <a:t>C</a:t>
              </a:r>
            </a:p>
          </p:txBody>
        </p:sp>
        <p:sp>
          <p:nvSpPr>
            <p:cNvPr id="19" name="BODY_response_C_content"/>
            <p:cNvSpPr txBox="1"/>
            <p:nvPr/>
          </p:nvSpPr>
          <p:spPr>
            <a:xfrm>
              <a:off x="1536696" y="3557015"/>
              <a:ext cx="4078224" cy="34747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0">
                  <a:solidFill>
                    <a:srgbClr val="2D3748"/>
                  </a:solidFill>
                  <a:latin typeface="Source Han Sans CN Light"/>
                  <a:ea typeface="Source Han Sans CN Light"/>
                  <a:cs typeface="Source Han Sans CN Light"/>
                </a:rPr>
                <a:t>赞同</a:t>
              </a:r>
            </a:p>
          </p:txBody>
        </p:sp>
      </p:grpSp>
      <p:grpSp>
        <p:nvGrpSpPr>
          <p:cNvPr id="20" name="GROUP_response_D"/>
          <p:cNvGrpSpPr/>
          <p:nvPr/>
        </p:nvGrpSpPr>
        <p:grpSpPr>
          <a:xfrm>
            <a:off x="942336" y="4059936"/>
            <a:ext cx="4809744" cy="475488"/>
            <a:chOff x="942336" y="4059936"/>
            <a:chExt cx="4809744" cy="475488"/>
          </a:xfrm>
        </p:grpSpPr>
        <p:sp>
          <p:nvSpPr>
            <p:cNvPr id="21" name="MESSAGE_response_D"/>
            <p:cNvSpPr/>
            <p:nvPr/>
          </p:nvSpPr>
          <p:spPr>
            <a:xfrm>
              <a:off x="942336" y="4059936"/>
              <a:ext cx="4809744" cy="475488"/>
            </a:xfrm>
            <a:prstGeom prst="rect">
              <a:avLst/>
            </a:prstGeom>
            <a:solidFill>
              <a:srgbClr val="FFFFFF"/>
            </a:solidFill>
            <a:ln w="825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LABEL_response_D_sender"/>
            <p:cNvSpPr txBox="1"/>
            <p:nvPr/>
          </p:nvSpPr>
          <p:spPr>
            <a:xfrm>
              <a:off x="1061208" y="4123944"/>
              <a:ext cx="320040" cy="34747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0">
                  <a:solidFill>
                    <a:srgbClr val="1C3B70"/>
                  </a:solidFill>
                  <a:latin typeface="Times New Roman"/>
                  <a:ea typeface="Times New Roman"/>
                  <a:cs typeface="Times New Roman"/>
                </a:rPr>
                <a:t>D</a:t>
              </a:r>
            </a:p>
          </p:txBody>
        </p:sp>
        <p:sp>
          <p:nvSpPr>
            <p:cNvPr id="23" name="BODY_response_D_content"/>
            <p:cNvSpPr txBox="1"/>
            <p:nvPr/>
          </p:nvSpPr>
          <p:spPr>
            <a:xfrm>
              <a:off x="1536696" y="4123944"/>
              <a:ext cx="4078224" cy="34747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0">
                  <a:solidFill>
                    <a:srgbClr val="2D3748"/>
                  </a:solidFill>
                  <a:latin typeface="Source Han Sans CN Light"/>
                  <a:ea typeface="Source Han Sans CN Light"/>
                  <a:cs typeface="Source Han Sans CN Light"/>
                </a:rPr>
                <a:t>我也这么想</a:t>
              </a:r>
            </a:p>
          </p:txBody>
        </p:sp>
      </p:grpSp>
      <p:grpSp>
        <p:nvGrpSpPr>
          <p:cNvPr id="24" name="GROUP_right_original"/>
          <p:cNvGrpSpPr/>
          <p:nvPr/>
        </p:nvGrpSpPr>
        <p:grpSpPr>
          <a:xfrm>
            <a:off x="6400800" y="1938528"/>
            <a:ext cx="5212080" cy="1344168"/>
            <a:chOff x="6400800" y="1938528"/>
            <a:chExt cx="5212080" cy="1344168"/>
          </a:xfrm>
        </p:grpSpPr>
        <p:sp>
          <p:nvSpPr>
            <p:cNvPr id="25" name="MESSAGE_right_original"/>
            <p:cNvSpPr/>
            <p:nvPr/>
          </p:nvSpPr>
          <p:spPr>
            <a:xfrm>
              <a:off x="6400800" y="1938528"/>
              <a:ext cx="5212080" cy="841248"/>
            </a:xfrm>
            <a:prstGeom prst="rect">
              <a:avLst/>
            </a:prstGeom>
            <a:solidFill>
              <a:srgbClr val="FFFFFF"/>
            </a:solidFill>
            <a:ln w="825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LABEL_right_original_sender"/>
            <p:cNvSpPr txBox="1"/>
            <p:nvPr/>
          </p:nvSpPr>
          <p:spPr>
            <a:xfrm>
              <a:off x="6519672" y="2002536"/>
              <a:ext cx="320040" cy="71323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0">
                  <a:solidFill>
                    <a:srgbClr val="1C3B70"/>
                  </a:solidFill>
                  <a:latin typeface="Times New Roman"/>
                  <a:ea typeface="Times New Roman"/>
                  <a:cs typeface="Times New Roman"/>
                </a:rPr>
                <a:t>A</a:t>
              </a:r>
            </a:p>
          </p:txBody>
        </p:sp>
        <p:sp>
          <p:nvSpPr>
            <p:cNvPr id="27" name="BODY_right_original_content"/>
            <p:cNvSpPr txBox="1"/>
            <p:nvPr/>
          </p:nvSpPr>
          <p:spPr>
            <a:xfrm>
              <a:off x="6995160" y="2002536"/>
              <a:ext cx="4480560" cy="71323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0">
                  <a:solidFill>
                    <a:srgbClr val="2D3748"/>
                  </a:solidFill>
                  <a:latin typeface="Source Han Sans CN Light"/>
                  <a:ea typeface="Source Han Sans CN Light"/>
                  <a:cs typeface="Source Han Sans CN Light"/>
                </a:rPr>
                <a:t>我认为平台应该删除冒犯性内容。</a:t>
              </a:r>
            </a:p>
          </p:txBody>
        </p:sp>
        <p:sp>
          <p:nvSpPr>
            <p:cNvPr id="28" name="REACTION_attached_to_original"/>
            <p:cNvSpPr/>
            <p:nvPr/>
          </p:nvSpPr>
          <p:spPr>
            <a:xfrm>
              <a:off x="7013448" y="2779776"/>
              <a:ext cx="3474720" cy="502920"/>
            </a:xfrm>
            <a:prstGeom prst="rect">
              <a:avLst/>
            </a:prstGeom>
            <a:solidFill>
              <a:srgbClr val="FFFFFF"/>
            </a:solidFill>
            <a:ln w="825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BODY_attached_reaction_members"/>
            <p:cNvSpPr txBox="1"/>
            <p:nvPr/>
          </p:nvSpPr>
          <p:spPr>
            <a:xfrm>
              <a:off x="7159752" y="2843784"/>
              <a:ext cx="3182112" cy="35661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0" b="0">
                  <a:solidFill>
                    <a:srgbClr val="2D3748"/>
                  </a:solidFill>
                  <a:latin typeface="Source Han Sans CN Light"/>
                  <a:ea typeface="Source Han Sans CN Light"/>
                  <a:cs typeface="Source Han Sans CN Light"/>
                </a:rPr>
                <a:t>赞同</a:t>
              </a:r>
              <a:r>
                <a:rPr sz="1700" b="0">
                  <a:solidFill>
                    <a:srgbClr val="2D3748"/>
                  </a:solidFill>
                  <a:latin typeface="Times New Roman"/>
                  <a:ea typeface="Times New Roman"/>
                  <a:cs typeface="Times New Roman"/>
                </a:rPr>
                <a:t>  </a:t>
              </a:r>
              <a:r>
                <a:rPr sz="1700" b="0">
                  <a:solidFill>
                    <a:srgbClr val="2D3748"/>
                  </a:solidFill>
                  <a:latin typeface="Source Han Sans CN Light"/>
                  <a:ea typeface="Source Han Sans CN Light"/>
                  <a:cs typeface="Source Han Sans CN Light"/>
                </a:rPr>
                <a:t>·</a:t>
              </a:r>
              <a:r>
                <a:rPr sz="1700" b="0">
                  <a:solidFill>
                    <a:srgbClr val="2D3748"/>
                  </a:solidFill>
                  <a:latin typeface="Times New Roman"/>
                  <a:ea typeface="Times New Roman"/>
                  <a:cs typeface="Times New Roman"/>
                </a:rPr>
                <a:t>  B</a:t>
              </a:r>
              <a:r>
                <a:rPr sz="1700" b="0">
                  <a:solidFill>
                    <a:srgbClr val="2D3748"/>
                  </a:solidFill>
                  <a:latin typeface="Source Han Sans CN Light"/>
                  <a:ea typeface="Source Han Sans CN Light"/>
                  <a:cs typeface="Source Han Sans CN Light"/>
                </a:rPr>
                <a:t>、</a:t>
              </a:r>
              <a:r>
                <a:rPr sz="1700" b="0">
                  <a:solidFill>
                    <a:srgbClr val="2D3748"/>
                  </a:solidFill>
                  <a:latin typeface="Times New Roman"/>
                  <a:ea typeface="Times New Roman"/>
                  <a:cs typeface="Times New Roman"/>
                </a:rPr>
                <a:t>C</a:t>
              </a:r>
              <a:r>
                <a:rPr sz="1700" b="0">
                  <a:solidFill>
                    <a:srgbClr val="2D3748"/>
                  </a:solidFill>
                  <a:latin typeface="Source Han Sans CN Light"/>
                  <a:ea typeface="Source Han Sans CN Light"/>
                  <a:cs typeface="Source Han Sans CN Light"/>
                </a:rPr>
                <a:t>、</a:t>
              </a:r>
              <a:r>
                <a:rPr sz="1700" b="0">
                  <a:solidFill>
                    <a:srgbClr val="2D3748"/>
                  </a:solidFill>
                  <a:latin typeface="Times New Roman"/>
                  <a:ea typeface="Times New Roman"/>
                  <a:cs typeface="Times New Roman"/>
                </a:rPr>
                <a:t>D</a:t>
              </a:r>
            </a:p>
          </p:txBody>
        </p:sp>
      </p:grpSp>
      <p:sp>
        <p:nvSpPr>
          <p:cNvPr id="30" name="CAPTION_context_disclosure"/>
          <p:cNvSpPr txBox="1"/>
          <p:nvPr/>
        </p:nvSpPr>
        <p:spPr>
          <a:xfrm>
            <a:off x="6400800" y="4014215"/>
            <a:ext cx="5212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情境演示，非实验数据。</a:t>
            </a:r>
          </a:p>
        </p:txBody>
      </p:sp>
      <p:sp>
        <p:nvSpPr>
          <p:cNvPr id="31" name="BODY_overall_research_question"/>
          <p:cNvSpPr txBox="1"/>
          <p:nvPr/>
        </p:nvSpPr>
        <p:spPr>
          <a:xfrm>
            <a:off x="540000" y="4956048"/>
            <a:ext cx="111120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C3B70"/>
                </a:solidFill>
                <a:latin typeface="Source Han Sans CN Light"/>
                <a:ea typeface="Source Han Sans CN Light"/>
                <a:cs typeface="Source Han Sans CN Light"/>
              </a:rPr>
              <a:t>反应与定向回复的可用性，如何影响政治讨论中的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C3B70"/>
                </a:solidFill>
                <a:latin typeface="Source Han Sans CN Light"/>
                <a:ea typeface="Source Han Sans CN Light"/>
                <a:cs typeface="Source Han Sans CN Light"/>
              </a:rPr>
              <a:t>参与、互动与多样性？</a:t>
            </a:r>
          </a:p>
        </p:txBody>
      </p:sp>
      <p:sp>
        <p:nvSpPr>
          <p:cNvPr id="32" name="CAPTION_question_summary"/>
          <p:cNvSpPr txBox="1"/>
          <p:nvPr/>
        </p:nvSpPr>
        <p:spPr>
          <a:xfrm>
            <a:off x="540000" y="5879592"/>
            <a:ext cx="11112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汇报者概括的总研究问题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main"/>
          <p:cNvSpPr/>
          <p:nvPr/>
        </p:nvSpPr>
        <p:spPr>
          <a:xfrm>
            <a:off x="540000" y="540000"/>
            <a:ext cx="1111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1C3B70"/>
                </a:solidFill>
                <a:latin typeface="Source Han Serif CN"/>
                <a:ea typeface="Source Han Serif CN"/>
                <a:cs typeface="Source Han Serif CN"/>
              </a:rPr>
              <a:t>概念与理论预期</a:t>
            </a:r>
            <a:endParaRPr lang="en-US" sz="2400" dirty="0"/>
          </a:p>
        </p:txBody>
      </p:sp>
      <p:sp>
        <p:nvSpPr>
          <p:cNvPr id="3" name="TITLE_hairline"/>
          <p:cNvSpPr/>
          <p:nvPr/>
        </p:nvSpPr>
        <p:spPr>
          <a:xfrm>
            <a:off x="540000" y="1143000"/>
            <a:ext cx="11112000" cy="0"/>
          </a:xfrm>
          <a:prstGeom prst="line">
            <a:avLst/>
          </a:prstGeom>
          <a:noFill/>
          <a:ln w="6985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4" name="SOURCE_footer"/>
          <p:cNvSpPr/>
          <p:nvPr/>
        </p:nvSpPr>
        <p:spPr>
          <a:xfrm>
            <a:off x="997199" y="6382512"/>
            <a:ext cx="1019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Jaidka 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等（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2026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），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TIME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与内部包容性：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PDF 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第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页；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H1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、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H2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及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RQ1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、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RQ2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：第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3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页。</a:t>
            </a:r>
            <a:endParaRPr lang="en-US" sz="1000" dirty="0"/>
          </a:p>
        </p:txBody>
      </p:sp>
      <p:sp>
        <p:nvSpPr>
          <p:cNvPr id="5" name="PAGE_NUMBER_footer"/>
          <p:cNvSpPr/>
          <p:nvPr/>
        </p:nvSpPr>
        <p:spPr>
          <a:xfrm>
            <a:off x="11341104" y="6519672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1000" dirty="0"/>
          </a:p>
        </p:txBody>
      </p:sp>
      <p:sp>
        <p:nvSpPr>
          <p:cNvPr id="6" name="BODY_TIME_relation"/>
          <p:cNvSpPr txBox="1"/>
          <p:nvPr/>
        </p:nvSpPr>
        <p:spPr>
          <a:xfrm>
            <a:off x="540000" y="1353312"/>
            <a:ext cx="1111200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C3B70"/>
                </a:solidFill>
                <a:latin typeface="Source Han Sans CN Light"/>
                <a:ea typeface="Source Han Sans CN Light"/>
                <a:cs typeface="Source Han Sans CN Light"/>
              </a:rPr>
              <a:t>互动媒体效果理论（</a:t>
            </a:r>
            <a:r>
              <a:rPr sz="2000" b="0">
                <a:solidFill>
                  <a:srgbClr val="1C3B70"/>
                </a:solidFill>
                <a:latin typeface="Times New Roman"/>
                <a:ea typeface="Times New Roman"/>
                <a:cs typeface="Times New Roman"/>
              </a:rPr>
              <a:t>TIME</a:t>
            </a:r>
            <a:r>
              <a:rPr sz="2000" b="0">
                <a:solidFill>
                  <a:srgbClr val="1C3B70"/>
                </a:solidFill>
                <a:latin typeface="Source Han Sans CN Light"/>
                <a:ea typeface="Source Han Sans CN Light"/>
                <a:cs typeface="Source Han Sans CN Light"/>
              </a:rPr>
              <a:t>）：界面操作方式如何影响人际交流？</a:t>
            </a:r>
          </a:p>
        </p:txBody>
      </p:sp>
      <p:sp>
        <p:nvSpPr>
          <p:cNvPr id="7" name="LABEL_feature_反应"/>
          <p:cNvSpPr txBox="1"/>
          <p:nvPr/>
        </p:nvSpPr>
        <p:spPr>
          <a:xfrm>
            <a:off x="540000" y="1975104"/>
            <a:ext cx="5212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C3B70"/>
                </a:solidFill>
                <a:latin typeface="Source Han Sans CN Light"/>
                <a:ea typeface="Source Han Sans CN Light"/>
                <a:cs typeface="Source Han Sans CN Light"/>
              </a:rPr>
              <a:t>反应</a:t>
            </a:r>
          </a:p>
        </p:txBody>
      </p:sp>
      <p:sp>
        <p:nvSpPr>
          <p:cNvPr id="8" name="BODY_definition_反应"/>
          <p:cNvSpPr txBox="1"/>
          <p:nvPr/>
        </p:nvSpPr>
        <p:spPr>
          <a:xfrm>
            <a:off x="540000" y="2432304"/>
            <a:ext cx="521208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附着在消息上的快捷正、负反馈</a:t>
            </a:r>
          </a:p>
        </p:txBody>
      </p:sp>
      <p:sp>
        <p:nvSpPr>
          <p:cNvPr id="9" name="BODY_expectation_反应"/>
          <p:cNvSpPr txBox="1"/>
          <p:nvPr/>
        </p:nvSpPr>
        <p:spPr>
          <a:xfrm>
            <a:off x="540000" y="3182112"/>
            <a:ext cx="5212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预期：参与和互动减少</a:t>
            </a:r>
          </a:p>
        </p:txBody>
      </p:sp>
      <p:pic>
        <p:nvPicPr>
          <p:cNvPr id="10" name="EVIDENCE_original_h1.png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6459" y="3685032"/>
            <a:ext cx="5179161" cy="1207008"/>
          </a:xfrm>
          <a:prstGeom prst="rect">
            <a:avLst/>
          </a:prstGeom>
        </p:spPr>
      </p:pic>
      <p:sp>
        <p:nvSpPr>
          <p:cNvPr id="11" name="LABEL_feature_回复"/>
          <p:cNvSpPr txBox="1"/>
          <p:nvPr/>
        </p:nvSpPr>
        <p:spPr>
          <a:xfrm>
            <a:off x="6419088" y="1975104"/>
            <a:ext cx="5212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C3B70"/>
                </a:solidFill>
                <a:latin typeface="Source Han Sans CN Light"/>
                <a:ea typeface="Source Han Sans CN Light"/>
                <a:cs typeface="Source Han Sans CN Light"/>
              </a:rPr>
              <a:t>回复</a:t>
            </a:r>
          </a:p>
        </p:txBody>
      </p:sp>
      <p:sp>
        <p:nvSpPr>
          <p:cNvPr id="12" name="BODY_definition_回复"/>
          <p:cNvSpPr txBox="1"/>
          <p:nvPr/>
        </p:nvSpPr>
        <p:spPr>
          <a:xfrm>
            <a:off x="6419088" y="2432304"/>
            <a:ext cx="521208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指向特定消息的定向文字回应功能</a:t>
            </a:r>
          </a:p>
        </p:txBody>
      </p:sp>
      <p:sp>
        <p:nvSpPr>
          <p:cNvPr id="13" name="BODY_expectation_回复"/>
          <p:cNvSpPr txBox="1"/>
          <p:nvPr/>
        </p:nvSpPr>
        <p:spPr>
          <a:xfrm>
            <a:off x="6419088" y="3182112"/>
            <a:ext cx="5212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预期：参与和互动增加</a:t>
            </a:r>
          </a:p>
        </p:txBody>
      </p:sp>
      <p:pic>
        <p:nvPicPr>
          <p:cNvPr id="14" name="EVIDENCE_original_h2.png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088" y="3692238"/>
            <a:ext cx="5212080" cy="1192594"/>
          </a:xfrm>
          <a:prstGeom prst="rect">
            <a:avLst/>
          </a:prstGeom>
        </p:spPr>
      </p:pic>
      <p:sp>
        <p:nvSpPr>
          <p:cNvPr id="15" name="RULE"/>
          <p:cNvSpPr/>
          <p:nvPr/>
        </p:nvSpPr>
        <p:spPr>
          <a:xfrm>
            <a:off x="540000" y="5138928"/>
            <a:ext cx="11112000" cy="548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LABEL_internal_inclusiveness"/>
          <p:cNvSpPr txBox="1"/>
          <p:nvPr/>
        </p:nvSpPr>
        <p:spPr>
          <a:xfrm>
            <a:off x="540000" y="5330952"/>
            <a:ext cx="21031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C3B70"/>
                </a:solidFill>
                <a:latin typeface="Source Han Sans CN Light"/>
                <a:ea typeface="Source Han Sans CN Light"/>
                <a:cs typeface="Source Han Sans CN Light"/>
              </a:rPr>
              <a:t>内部包容性</a:t>
            </a:r>
          </a:p>
        </p:txBody>
      </p:sp>
      <p:sp>
        <p:nvSpPr>
          <p:cNvPr id="17" name="BODY_internal_inclusiveness_definition"/>
          <p:cNvSpPr txBox="1"/>
          <p:nvPr/>
        </p:nvSpPr>
        <p:spPr>
          <a:xfrm>
            <a:off x="2907792" y="5285232"/>
            <a:ext cx="86868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讨论内部的贡献、回应联系与观点分布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对应参与、互动、多样性三组行为指标</a:t>
            </a:r>
          </a:p>
        </p:txBody>
      </p:sp>
      <p:sp>
        <p:nvSpPr>
          <p:cNvPr id="18" name="CAPTION_theoretical_boundary"/>
          <p:cNvSpPr txBox="1"/>
          <p:nvPr/>
        </p:nvSpPr>
        <p:spPr>
          <a:xfrm>
            <a:off x="540000" y="6080760"/>
            <a:ext cx="11112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多样性方向不预设；心理解释尚未直接检验。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main"/>
          <p:cNvSpPr/>
          <p:nvPr/>
        </p:nvSpPr>
        <p:spPr>
          <a:xfrm>
            <a:off x="540000" y="540000"/>
            <a:ext cx="1111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1C3B70"/>
                </a:solidFill>
                <a:latin typeface="Source Han Serif CN"/>
                <a:ea typeface="Source Han Serif CN"/>
                <a:cs typeface="Source Han Serif CN"/>
              </a:rPr>
              <a:t>实验设计与分析</a:t>
            </a:r>
            <a:endParaRPr lang="en-US" sz="2400" dirty="0"/>
          </a:p>
        </p:txBody>
      </p:sp>
      <p:sp>
        <p:nvSpPr>
          <p:cNvPr id="3" name="TITLE_hairline"/>
          <p:cNvSpPr/>
          <p:nvPr/>
        </p:nvSpPr>
        <p:spPr>
          <a:xfrm>
            <a:off x="540000" y="1143000"/>
            <a:ext cx="11112000" cy="0"/>
          </a:xfrm>
          <a:prstGeom prst="line">
            <a:avLst/>
          </a:prstGeom>
          <a:noFill/>
          <a:ln w="6985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4" name="SOURCE_footer"/>
          <p:cNvSpPr/>
          <p:nvPr/>
        </p:nvSpPr>
        <p:spPr>
          <a:xfrm>
            <a:off x="997199" y="6382512"/>
            <a:ext cx="1019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功能矩阵依据原文表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1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整理；实验及分析见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 Jaidka 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等（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2026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），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PDF 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第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3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—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6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页。</a:t>
            </a:r>
            <a:endParaRPr lang="en-US" sz="1000" dirty="0"/>
          </a:p>
        </p:txBody>
      </p:sp>
      <p:sp>
        <p:nvSpPr>
          <p:cNvPr id="5" name="PAGE_NUMBER_footer"/>
          <p:cNvSpPr/>
          <p:nvPr/>
        </p:nvSpPr>
        <p:spPr>
          <a:xfrm>
            <a:off x="11341104" y="6519672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1000" dirty="0"/>
          </a:p>
        </p:txBody>
      </p:sp>
      <p:sp>
        <p:nvSpPr>
          <p:cNvPr id="6" name="BODY_experiment_randomization"/>
          <p:cNvSpPr txBox="1"/>
          <p:nvPr/>
        </p:nvSpPr>
        <p:spPr>
          <a:xfrm>
            <a:off x="540000" y="1353312"/>
            <a:ext cx="111099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C3B70"/>
                </a:solidFill>
                <a:latin typeface="Source Han Sans CN Light"/>
                <a:ea typeface="Source Han Sans CN Light"/>
                <a:cs typeface="Source Han Sans CN Light"/>
              </a:rPr>
              <a:t>前测</a:t>
            </a:r>
            <a:r>
              <a:rPr sz="2000" b="0">
                <a:solidFill>
                  <a:srgbClr val="1C3B7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000" b="0">
                <a:solidFill>
                  <a:srgbClr val="1C3B70"/>
                </a:solidFill>
                <a:latin typeface="Source Han Sans CN Light"/>
                <a:ea typeface="Source Han Sans CN Light"/>
                <a:cs typeface="Source Han Sans CN Light"/>
              </a:rPr>
              <a:t>→</a:t>
            </a:r>
            <a:r>
              <a:rPr sz="2000" b="0">
                <a:solidFill>
                  <a:srgbClr val="1C3B7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000" b="0">
                <a:solidFill>
                  <a:srgbClr val="1C3B70"/>
                </a:solidFill>
                <a:latin typeface="Source Han Sans CN Light"/>
                <a:ea typeface="Source Han Sans CN Light"/>
                <a:cs typeface="Source Han Sans CN Light"/>
              </a:rPr>
              <a:t>聊天室层面随机分配</a:t>
            </a:r>
            <a:r>
              <a:rPr sz="2000" b="0">
                <a:solidFill>
                  <a:srgbClr val="1C3B7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000" b="0">
                <a:solidFill>
                  <a:srgbClr val="1C3B70"/>
                </a:solidFill>
                <a:latin typeface="Source Han Sans CN Light"/>
                <a:ea typeface="Source Han Sans CN Light"/>
                <a:cs typeface="Source Han Sans CN Light"/>
              </a:rPr>
              <a:t>→</a:t>
            </a:r>
            <a:r>
              <a:rPr sz="2000" b="0">
                <a:solidFill>
                  <a:srgbClr val="1C3B7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000" b="0">
                <a:solidFill>
                  <a:srgbClr val="1C3B70"/>
                </a:solidFill>
                <a:latin typeface="Source Han Sans CN Light"/>
                <a:ea typeface="Source Han Sans CN Light"/>
                <a:cs typeface="Source Han Sans CN Light"/>
              </a:rPr>
              <a:t>约</a:t>
            </a:r>
            <a:r>
              <a:rPr sz="2000" b="0">
                <a:solidFill>
                  <a:srgbClr val="1C3B70"/>
                </a:solidFill>
                <a:latin typeface="Times New Roman"/>
                <a:ea typeface="Times New Roman"/>
                <a:cs typeface="Times New Roman"/>
              </a:rPr>
              <a:t>28</a:t>
            </a:r>
            <a:r>
              <a:rPr sz="2000" b="0">
                <a:solidFill>
                  <a:srgbClr val="1C3B70"/>
                </a:solidFill>
                <a:latin typeface="Source Han Sans CN Light"/>
                <a:ea typeface="Source Han Sans CN Light"/>
                <a:cs typeface="Source Han Sans CN Light"/>
              </a:rPr>
              <a:t>分钟讨论</a:t>
            </a:r>
            <a:r>
              <a:rPr sz="2000" b="0">
                <a:solidFill>
                  <a:srgbClr val="1C3B7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000" b="0">
                <a:solidFill>
                  <a:srgbClr val="1C3B70"/>
                </a:solidFill>
                <a:latin typeface="Source Han Sans CN Light"/>
                <a:ea typeface="Source Han Sans CN Light"/>
                <a:cs typeface="Source Han Sans CN Light"/>
              </a:rPr>
              <a:t>→</a:t>
            </a:r>
            <a:r>
              <a:rPr sz="2000" b="0">
                <a:solidFill>
                  <a:srgbClr val="1C3B7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000" b="0">
                <a:solidFill>
                  <a:srgbClr val="1C3B70"/>
                </a:solidFill>
                <a:latin typeface="Source Han Sans CN Light"/>
                <a:ea typeface="Source Han Sans CN Light"/>
                <a:cs typeface="Source Han Sans CN Light"/>
              </a:rPr>
              <a:t>后测</a:t>
            </a:r>
          </a:p>
        </p:txBody>
      </p:sp>
      <p:graphicFrame>
        <p:nvGraphicFramePr>
          <p:cNvPr id="7" name="TABLE_function_conditions"/>
          <p:cNvGraphicFramePr>
            <a:graphicFrameLocks noGrp="1"/>
          </p:cNvGraphicFramePr>
          <p:nvPr/>
        </p:nvGraphicFramePr>
        <p:xfrm>
          <a:off x="540000" y="1947672"/>
          <a:ext cx="589788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2148840"/>
                <a:gridCol w="2148840"/>
              </a:tblGrid>
              <a:tr h="838200">
                <a:tc>
                  <a:txBody>
                    <a:bodyPr wrap="square" lIns="0" rIns="0" tIns="0" bIns="0" anchor="ctr"/>
                    <a:lstStyle/>
                    <a:p>
                      <a:pPr algn="ctr">
                        <a:lnSpc>
                          <a:spcPct val="13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91440" marR="91440" marT="91440" marB="91440"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pPr algn="ctr">
                        <a:lnSpc>
                          <a:spcPct val="13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C3B70"/>
                          </a:solidFill>
                          <a:latin typeface="Source Han Sans CN Light"/>
                          <a:ea typeface="Source Han Sans CN Light"/>
                          <a:cs typeface="Source Han Sans CN Light"/>
                        </a:rPr>
                        <a:t>反应不可用</a:t>
                      </a:r>
                    </a:p>
                  </a:txBody>
                  <a:tcPr marL="91440" marR="91440" marT="91440" marB="91440"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pPr algn="ctr">
                        <a:lnSpc>
                          <a:spcPct val="13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C3B70"/>
                          </a:solidFill>
                          <a:latin typeface="Source Han Sans CN Light"/>
                          <a:ea typeface="Source Han Sans CN Light"/>
                          <a:cs typeface="Source Han Sans CN Light"/>
                        </a:rPr>
                        <a:t>反应可用</a:t>
                      </a:r>
                    </a:p>
                  </a:txBody>
                  <a:tcPr marL="91440" marR="91440" marT="91440" marB="91440"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</a:tr>
              <a:tr h="838200">
                <a:tc>
                  <a:txBody>
                    <a:bodyPr wrap="square" lIns="0" rIns="0" tIns="0" bIns="0" anchor="ctr"/>
                    <a:lstStyle/>
                    <a:p>
                      <a:pPr algn="ctr">
                        <a:lnSpc>
                          <a:spcPct val="13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C3B70"/>
                          </a:solidFill>
                          <a:latin typeface="Source Han Sans CN Light"/>
                          <a:ea typeface="Source Han Sans CN Light"/>
                          <a:cs typeface="Source Han Sans CN Light"/>
                        </a:rPr>
                        <a:t>回复不可用</a:t>
                      </a:r>
                    </a:p>
                  </a:txBody>
                  <a:tcPr marL="91440" marR="91440" marT="91440" marB="91440"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pPr algn="ctr">
                        <a:lnSpc>
                          <a:spcPct val="13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D3748"/>
                          </a:solidFill>
                          <a:latin typeface="Source Han Sans CN Light"/>
                          <a:ea typeface="Source Han Sans CN Light"/>
                          <a:cs typeface="Source Han Sans CN Light"/>
                        </a:rPr>
                        <a:t>无反应／无回复</a:t>
                      </a:r>
                    </a:p>
                    <a:p>
                      <a:pPr algn="ctr">
                        <a:lnSpc>
                          <a:spcPct val="13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D374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399</a:t>
                      </a:r>
                      <a:r>
                        <a:rPr sz="1700" b="0">
                          <a:solidFill>
                            <a:srgbClr val="2D3748"/>
                          </a:solidFill>
                          <a:latin typeface="Source Han Sans CN Light"/>
                          <a:ea typeface="Source Han Sans CN Light"/>
                          <a:cs typeface="Source Han Sans CN Light"/>
                        </a:rPr>
                        <a:t>人</a:t>
                      </a:r>
                    </a:p>
                  </a:txBody>
                  <a:tcPr marL="91440" marR="91440" marT="91440" marB="91440"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pPr algn="ctr">
                        <a:lnSpc>
                          <a:spcPct val="13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D3748"/>
                          </a:solidFill>
                          <a:latin typeface="Source Han Sans CN Light"/>
                          <a:ea typeface="Source Han Sans CN Light"/>
                          <a:cs typeface="Source Han Sans CN Light"/>
                        </a:rPr>
                        <a:t>仅反应</a:t>
                      </a:r>
                    </a:p>
                    <a:p>
                      <a:pPr algn="ctr">
                        <a:lnSpc>
                          <a:spcPct val="13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D374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408</a:t>
                      </a:r>
                      <a:r>
                        <a:rPr sz="1700" b="0">
                          <a:solidFill>
                            <a:srgbClr val="2D3748"/>
                          </a:solidFill>
                          <a:latin typeface="Source Han Sans CN Light"/>
                          <a:ea typeface="Source Han Sans CN Light"/>
                          <a:cs typeface="Source Han Sans CN Light"/>
                        </a:rPr>
                        <a:t>人</a:t>
                      </a:r>
                    </a:p>
                  </a:txBody>
                  <a:tcPr marL="91440" marR="91440" marT="91440" marB="91440"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</a:tr>
              <a:tr h="838200">
                <a:tc>
                  <a:txBody>
                    <a:bodyPr wrap="square" lIns="0" rIns="0" tIns="0" bIns="0" anchor="ctr"/>
                    <a:lstStyle/>
                    <a:p>
                      <a:pPr algn="ctr">
                        <a:lnSpc>
                          <a:spcPct val="13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C3B70"/>
                          </a:solidFill>
                          <a:latin typeface="Source Han Sans CN Light"/>
                          <a:ea typeface="Source Han Sans CN Light"/>
                          <a:cs typeface="Source Han Sans CN Light"/>
                        </a:rPr>
                        <a:t>回复可用</a:t>
                      </a:r>
                    </a:p>
                  </a:txBody>
                  <a:tcPr marL="91440" marR="91440" marT="91440" marB="91440"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pPr algn="ctr">
                        <a:lnSpc>
                          <a:spcPct val="13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D3748"/>
                          </a:solidFill>
                          <a:latin typeface="Source Han Sans CN Light"/>
                          <a:ea typeface="Source Han Sans CN Light"/>
                          <a:cs typeface="Source Han Sans CN Light"/>
                        </a:rPr>
                        <a:t>仅回复</a:t>
                      </a:r>
                    </a:p>
                    <a:p>
                      <a:pPr algn="ctr">
                        <a:lnSpc>
                          <a:spcPct val="13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D374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420</a:t>
                      </a:r>
                      <a:r>
                        <a:rPr sz="1700" b="0">
                          <a:solidFill>
                            <a:srgbClr val="2D3748"/>
                          </a:solidFill>
                          <a:latin typeface="Source Han Sans CN Light"/>
                          <a:ea typeface="Source Han Sans CN Light"/>
                          <a:cs typeface="Source Han Sans CN Light"/>
                        </a:rPr>
                        <a:t>人</a:t>
                      </a:r>
                    </a:p>
                  </a:txBody>
                  <a:tcPr marL="91440" marR="91440" marT="91440" marB="91440"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pPr algn="ctr">
                        <a:lnSpc>
                          <a:spcPct val="13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D3748"/>
                          </a:solidFill>
                          <a:latin typeface="Source Han Sans CN Light"/>
                          <a:ea typeface="Source Han Sans CN Light"/>
                          <a:cs typeface="Source Han Sans CN Light"/>
                        </a:rPr>
                        <a:t>反应＋回复</a:t>
                      </a:r>
                    </a:p>
                    <a:p>
                      <a:pPr algn="ctr">
                        <a:lnSpc>
                          <a:spcPct val="13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D374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416</a:t>
                      </a:r>
                      <a:r>
                        <a:rPr sz="1700" b="0">
                          <a:solidFill>
                            <a:srgbClr val="2D3748"/>
                          </a:solidFill>
                          <a:latin typeface="Source Han Sans CN Light"/>
                          <a:ea typeface="Source Han Sans CN Light"/>
                          <a:cs typeface="Source Han Sans CN Light"/>
                        </a:rPr>
                        <a:t>人</a:t>
                      </a:r>
                    </a:p>
                  </a:txBody>
                  <a:tcPr marL="91440" marR="91440" marT="91440" marB="91440"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LABEL_chatroom_context"/>
          <p:cNvSpPr txBox="1"/>
          <p:nvPr/>
        </p:nvSpPr>
        <p:spPr>
          <a:xfrm>
            <a:off x="6967728" y="1975104"/>
            <a:ext cx="4617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C3B70"/>
                </a:solidFill>
                <a:latin typeface="Source Han Sans CN Light"/>
                <a:ea typeface="Source Han Sans CN Light"/>
                <a:cs typeface="Source Han Sans CN Light"/>
              </a:rPr>
              <a:t>自建同步聊天室</a:t>
            </a:r>
          </a:p>
        </p:txBody>
      </p:sp>
      <p:sp>
        <p:nvSpPr>
          <p:cNvPr id="9" name="BODY_discussion_context"/>
          <p:cNvSpPr txBox="1"/>
          <p:nvPr/>
        </p:nvSpPr>
        <p:spPr>
          <a:xfrm>
            <a:off x="6967728" y="2670048"/>
            <a:ext cx="4617720" cy="1353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美国成年参与者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社交媒体内容监管议题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约</a:t>
            </a:r>
            <a:r>
              <a:rPr sz="1900" b="0">
                <a:solidFill>
                  <a:srgbClr val="2D3748"/>
                </a:solidFill>
                <a:latin typeface="Times New Roman"/>
                <a:ea typeface="Times New Roman"/>
                <a:cs typeface="Times New Roman"/>
              </a:rPr>
              <a:t>28</a:t>
            </a:r>
            <a:r>
              <a:rPr sz="19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分钟讨论</a:t>
            </a:r>
          </a:p>
        </p:txBody>
      </p:sp>
      <p:sp>
        <p:nvSpPr>
          <p:cNvPr id="10" name="BODY_all_conditions_text"/>
          <p:cNvSpPr txBox="1"/>
          <p:nvPr/>
        </p:nvSpPr>
        <p:spPr>
          <a:xfrm>
            <a:off x="6967728" y="4169663"/>
            <a:ext cx="461772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B2226"/>
                </a:solidFill>
                <a:latin typeface="Source Han Sans CN Light"/>
                <a:ea typeface="Source Han Sans CN Light"/>
                <a:cs typeface="Source Han Sans CN Light"/>
              </a:rPr>
              <a:t>四组都可发送普通文字</a:t>
            </a:r>
          </a:p>
        </p:txBody>
      </p:sp>
      <p:sp>
        <p:nvSpPr>
          <p:cNvPr id="11" name="RULE"/>
          <p:cNvSpPr/>
          <p:nvPr/>
        </p:nvSpPr>
        <p:spPr>
          <a:xfrm>
            <a:off x="540000" y="4901184"/>
            <a:ext cx="11112000" cy="548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BODY_analytic_sample"/>
          <p:cNvSpPr txBox="1"/>
          <p:nvPr/>
        </p:nvSpPr>
        <p:spPr>
          <a:xfrm>
            <a:off x="540000" y="5129784"/>
            <a:ext cx="111120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进入</a:t>
            </a:r>
            <a:r>
              <a:rPr sz="2000" b="0">
                <a:solidFill>
                  <a:srgbClr val="2D3748"/>
                </a:solidFill>
                <a:latin typeface="Times New Roman"/>
                <a:ea typeface="Times New Roman"/>
                <a:cs typeface="Times New Roman"/>
              </a:rPr>
              <a:t>1,643</a:t>
            </a:r>
            <a:r>
              <a:rPr sz="20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人；主要行为分析为</a:t>
            </a:r>
            <a:r>
              <a:rPr sz="2000" b="0">
                <a:solidFill>
                  <a:srgbClr val="2D3748"/>
                </a:solidFill>
                <a:latin typeface="Times New Roman"/>
                <a:ea typeface="Times New Roman"/>
                <a:cs typeface="Times New Roman"/>
              </a:rPr>
              <a:t>1,370</a:t>
            </a:r>
            <a:r>
              <a:rPr sz="20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名发言者。</a:t>
            </a:r>
          </a:p>
        </p:txBody>
      </p:sp>
      <p:sp>
        <p:nvSpPr>
          <p:cNvPr id="13" name="BODY_analysis_method"/>
          <p:cNvSpPr txBox="1"/>
          <p:nvPr/>
        </p:nvSpPr>
        <p:spPr>
          <a:xfrm>
            <a:off x="540000" y="5733288"/>
            <a:ext cx="11112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混合效应回归：考虑同一聊天室成员的关联。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main"/>
          <p:cNvSpPr/>
          <p:nvPr/>
        </p:nvSpPr>
        <p:spPr>
          <a:xfrm>
            <a:off x="540000" y="540000"/>
            <a:ext cx="1111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1C3B70"/>
                </a:solidFill>
                <a:latin typeface="Source Han Serif CN"/>
                <a:ea typeface="Source Han Serif CN"/>
                <a:cs typeface="Source Han Serif CN"/>
              </a:rPr>
              <a:t>概念如何变成可观察指标？</a:t>
            </a:r>
            <a:endParaRPr lang="en-US" sz="2400" dirty="0"/>
          </a:p>
        </p:txBody>
      </p:sp>
      <p:sp>
        <p:nvSpPr>
          <p:cNvPr id="3" name="TITLE_hairline"/>
          <p:cNvSpPr/>
          <p:nvPr/>
        </p:nvSpPr>
        <p:spPr>
          <a:xfrm>
            <a:off x="540000" y="1143000"/>
            <a:ext cx="11112000" cy="0"/>
          </a:xfrm>
          <a:prstGeom prst="line">
            <a:avLst/>
          </a:prstGeom>
          <a:noFill/>
          <a:ln w="6985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4" name="SOURCE_footer"/>
          <p:cNvSpPr/>
          <p:nvPr/>
        </p:nvSpPr>
        <p:spPr>
          <a:xfrm>
            <a:off x="997199" y="6382512"/>
            <a:ext cx="1019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原文图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1B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：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PDF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第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4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页（网络构建示意，非结果图）；指标与编码：第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5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—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6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页。</a:t>
            </a:r>
            <a:endParaRPr lang="en-US" sz="1000" dirty="0"/>
          </a:p>
        </p:txBody>
      </p:sp>
      <p:sp>
        <p:nvSpPr>
          <p:cNvPr id="5" name="PAGE_NUMBER_footer"/>
          <p:cNvSpPr/>
          <p:nvPr/>
        </p:nvSpPr>
        <p:spPr>
          <a:xfrm>
            <a:off x="11341104" y="6519672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</a:t>
            </a:r>
            <a:endParaRPr lang="en-US" sz="1000" dirty="0"/>
          </a:p>
        </p:txBody>
      </p:sp>
      <p:sp>
        <p:nvSpPr>
          <p:cNvPr id="6" name="CAPTION_representative_subset"/>
          <p:cNvSpPr txBox="1"/>
          <p:nvPr/>
        </p:nvSpPr>
        <p:spPr>
          <a:xfrm>
            <a:off x="540000" y="1380744"/>
            <a:ext cx="11112000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本次选取四项代表指标，非论文全部指标。</a:t>
            </a:r>
          </a:p>
        </p:txBody>
      </p:sp>
      <p:graphicFrame>
        <p:nvGraphicFramePr>
          <p:cNvPr id="6" name="TABLE_representative_measur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0000" y="1901952"/>
          <a:ext cx="5623560" cy="3291840"/>
        </p:xfrm>
        <a:graphic>
          <a:graphicData uri="http://schemas.openxmlformats.org/drawingml/2006/table">
            <a:tbl>
              <a:tblPr/>
              <a:tblGrid>
                <a:gridCol w="960120"/>
                <a:gridCol w="2057400"/>
                <a:gridCol w="2606040"/>
              </a:tblGrid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D3748"/>
                          </a:solidFill>
                          <a:latin typeface="Source Han Sans CN Light" pitchFamily="34" charset="0"/>
                          <a:ea typeface="Source Han Sans CN Light" pitchFamily="34" charset="-122"/>
                          <a:cs typeface="Source Han Sans CN Light" pitchFamily="34" charset="-120"/>
                        </a:rPr>
                        <a:t>维度</a:t>
                      </a:r>
                      <a:endParaRPr lang="en-US" sz="1600" dirty="0">
                        <a:latin typeface="Source Han Sans CN Light" charset="0"/>
                        <a:ea typeface="Source Han Sans CN Light" charset="0"/>
                        <a:cs typeface="Source Han Sans CN Light" charset="0"/>
                      </a:endParaRPr>
                    </a:p>
                  </a:txBody>
                  <a:tcPr marL="139700" marR="139700" marT="152400" marB="152400" anchor="mid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D3748"/>
                          </a:solidFill>
                          <a:latin typeface="Source Han Sans CN Light" pitchFamily="34" charset="0"/>
                          <a:ea typeface="Source Han Sans CN Light" pitchFamily="34" charset="-122"/>
                          <a:cs typeface="Source Han Sans CN Light" pitchFamily="34" charset="-120"/>
                        </a:rPr>
                        <a:t>代表指标</a:t>
                      </a:r>
                      <a:endParaRPr lang="en-US" sz="1600" dirty="0">
                        <a:latin typeface="Source Han Sans CN Light" charset="0"/>
                        <a:ea typeface="Source Han Sans CN Light" charset="0"/>
                        <a:cs typeface="Source Han Sans CN Light" charset="0"/>
                      </a:endParaRPr>
                    </a:p>
                  </a:txBody>
                  <a:tcPr marL="139700" marR="139700" marT="152400" marB="152400" anchor="mid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D3748"/>
                          </a:solidFill>
                          <a:latin typeface="Source Han Sans CN Light" pitchFamily="34" charset="0"/>
                          <a:ea typeface="Source Han Sans CN Light" pitchFamily="34" charset="-122"/>
                          <a:cs typeface="Source Han Sans CN Light" pitchFamily="34" charset="-120"/>
                        </a:rPr>
                        <a:t>直接观察什么</a:t>
                      </a:r>
                      <a:endParaRPr lang="en-US" sz="1600" dirty="0">
                        <a:latin typeface="Source Han Sans CN Light" charset="0"/>
                        <a:ea typeface="Source Han Sans CN Light" charset="0"/>
                        <a:cs typeface="Source Han Sans CN Light" charset="0"/>
                      </a:endParaRPr>
                    </a:p>
                  </a:txBody>
                  <a:tcPr marL="139700" marR="139700" marT="152400" marB="152400" anchor="mid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D3748"/>
                          </a:solidFill>
                          <a:latin typeface="Source Han Sans CN Light" pitchFamily="34" charset="0"/>
                          <a:ea typeface="Source Han Sans CN Light" pitchFamily="34" charset="-122"/>
                          <a:cs typeface="Source Han Sans CN Light" pitchFamily="34" charset="-120"/>
                        </a:rPr>
                        <a:t>参与</a:t>
                      </a:r>
                      <a:endParaRPr lang="en-US" sz="1700" dirty="0">
                        <a:latin typeface="Source Han Sans CN Light" charset="0"/>
                        <a:ea typeface="Source Han Sans CN Light" charset="0"/>
                        <a:cs typeface="Source Han Sans CN Light" charset="0"/>
                      </a:endParaRPr>
                    </a:p>
                  </a:txBody>
                  <a:tcPr marL="139700" marR="139700" marT="152400" marB="152400" anchor="mid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D3748"/>
                          </a:solidFill>
                          <a:latin typeface="Source Han Sans CN Light" pitchFamily="34" charset="0"/>
                          <a:ea typeface="Source Han Sans CN Light" pitchFamily="34" charset="-122"/>
                          <a:cs typeface="Source Han Sans CN Light" pitchFamily="34" charset="-120"/>
                        </a:rPr>
                        <a:t>消息数量</a:t>
                      </a:r>
                      <a:endParaRPr lang="en-US" sz="1700" dirty="0">
                        <a:latin typeface="Source Han Sans CN Light" charset="0"/>
                        <a:ea typeface="Source Han Sans CN Light" charset="0"/>
                        <a:cs typeface="Source Han Sans CN Light" charset="0"/>
                      </a:endParaRPr>
                    </a:p>
                  </a:txBody>
                  <a:tcPr marL="139700" marR="139700" marT="152400" marB="152400" anchor="mid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D3748"/>
                          </a:solidFill>
                          <a:latin typeface="Source Han Sans CN Light" pitchFamily="34" charset="0"/>
                          <a:ea typeface="Source Han Sans CN Light" pitchFamily="34" charset="-122"/>
                          <a:cs typeface="Source Han Sans CN Light" pitchFamily="34" charset="-120"/>
                        </a:rPr>
                        <a:t>每人发送多少条文字</a:t>
                      </a:r>
                      <a:endParaRPr lang="en-US" sz="1700" dirty="0">
                        <a:latin typeface="Source Han Sans CN Light" charset="0"/>
                        <a:ea typeface="Source Han Sans CN Light" charset="0"/>
                        <a:cs typeface="Source Han Sans CN Light" charset="0"/>
                      </a:endParaRPr>
                    </a:p>
                  </a:txBody>
                  <a:tcPr marL="139700" marR="139700" marT="152400" marB="152400" anchor="mid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D3748"/>
                          </a:solidFill>
                          <a:latin typeface="Source Han Sans CN Light" pitchFamily="34" charset="0"/>
                          <a:ea typeface="Source Han Sans CN Light" pitchFamily="34" charset="-122"/>
                          <a:cs typeface="Source Han Sans CN Light" pitchFamily="34" charset="-120"/>
                        </a:rPr>
                        <a:t>参与</a:t>
                      </a:r>
                      <a:endParaRPr lang="en-US" sz="1700" dirty="0">
                        <a:latin typeface="Source Han Sans CN Light" charset="0"/>
                        <a:ea typeface="Source Han Sans CN Light" charset="0"/>
                        <a:cs typeface="Source Han Sans CN Light" charset="0"/>
                      </a:endParaRPr>
                    </a:p>
                  </a:txBody>
                  <a:tcPr marL="139700" marR="139700" marT="152400" marB="152400" anchor="mid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D3748"/>
                          </a:solidFill>
                          <a:latin typeface="Source Han Sans CN Light" pitchFamily="34" charset="0"/>
                          <a:ea typeface="Source Han Sans CN Light" pitchFamily="34" charset="-122"/>
                          <a:cs typeface="Source Han Sans CN Light" pitchFamily="34" charset="-120"/>
                        </a:rPr>
                        <a:t>消息长度中位数</a:t>
                      </a:r>
                      <a:endParaRPr lang="en-US" sz="1700" dirty="0">
                        <a:latin typeface="Source Han Sans CN Light" charset="0"/>
                        <a:ea typeface="Source Han Sans CN Light" charset="0"/>
                        <a:cs typeface="Source Han Sans CN Light" charset="0"/>
                      </a:endParaRPr>
                    </a:p>
                  </a:txBody>
                  <a:tcPr marL="139700" marR="139700" marT="152400" marB="152400" anchor="mid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D3748"/>
                          </a:solidFill>
                          <a:latin typeface="Source Han Sans CN Light" pitchFamily="34" charset="0"/>
                          <a:ea typeface="Source Han Sans CN Light" pitchFamily="34" charset="-122"/>
                          <a:cs typeface="Source Han Sans CN Light" pitchFamily="34" charset="-120"/>
                        </a:rPr>
                        <a:t>典型一条消息有多长</a:t>
                      </a:r>
                      <a:endParaRPr lang="en-US" sz="1700" dirty="0">
                        <a:latin typeface="Source Han Sans CN Light" charset="0"/>
                        <a:ea typeface="Source Han Sans CN Light" charset="0"/>
                        <a:cs typeface="Source Han Sans CN Light" charset="0"/>
                      </a:endParaRPr>
                    </a:p>
                  </a:txBody>
                  <a:tcPr marL="139700" marR="139700" marT="152400" marB="152400" anchor="mid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D3748"/>
                          </a:solidFill>
                          <a:latin typeface="Source Han Sans CN Light" pitchFamily="34" charset="0"/>
                          <a:ea typeface="Source Han Sans CN Light" pitchFamily="34" charset="-122"/>
                          <a:cs typeface="Source Han Sans CN Light" pitchFamily="34" charset="-120"/>
                        </a:rPr>
                        <a:t>互动</a:t>
                      </a:r>
                      <a:endParaRPr lang="en-US" sz="1700" dirty="0">
                        <a:latin typeface="Source Han Sans CN Light" charset="0"/>
                        <a:ea typeface="Source Han Sans CN Light" charset="0"/>
                        <a:cs typeface="Source Han Sans CN Light" charset="0"/>
                      </a:endParaRPr>
                    </a:p>
                  </a:txBody>
                  <a:tcPr marL="139700" marR="139700" marT="152400" marB="152400" anchor="mid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D3748"/>
                          </a:solidFill>
                          <a:latin typeface="Source Han Sans CN Light" pitchFamily="34" charset="0"/>
                          <a:ea typeface="Source Han Sans CN Light" pitchFamily="34" charset="-122"/>
                          <a:cs typeface="Source Han Sans CN Light" pitchFamily="34" charset="-120"/>
                        </a:rPr>
                        <a:t>回复链最大深度</a:t>
                      </a:r>
                      <a:endParaRPr lang="en-US" sz="1700" dirty="0">
                        <a:latin typeface="Source Han Sans CN Light" charset="0"/>
                        <a:ea typeface="Source Han Sans CN Light" charset="0"/>
                        <a:cs typeface="Source Han Sans CN Light" charset="0"/>
                      </a:endParaRPr>
                    </a:p>
                  </a:txBody>
                  <a:tcPr marL="139700" marR="139700" marT="152400" marB="152400" anchor="mid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D3748"/>
                          </a:solidFill>
                          <a:latin typeface="Source Han Sans CN Light" pitchFamily="34" charset="0"/>
                          <a:ea typeface="Source Han Sans CN Light" pitchFamily="34" charset="-122"/>
                          <a:cs typeface="Source Han Sans CN Light" pitchFamily="34" charset="-120"/>
                        </a:rPr>
                        <a:t>连续回应延伸多少层</a:t>
                      </a:r>
                      <a:endParaRPr lang="en-US" sz="1700" dirty="0">
                        <a:latin typeface="Source Han Sans CN Light" charset="0"/>
                        <a:ea typeface="Source Han Sans CN Light" charset="0"/>
                        <a:cs typeface="Source Han Sans CN Light" charset="0"/>
                      </a:endParaRPr>
                    </a:p>
                  </a:txBody>
                  <a:tcPr marL="139700" marR="139700" marT="152400" marB="152400" anchor="mid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D3748"/>
                          </a:solidFill>
                          <a:latin typeface="Source Han Sans CN Light" pitchFamily="34" charset="0"/>
                          <a:ea typeface="Source Han Sans CN Light" pitchFamily="34" charset="-122"/>
                          <a:cs typeface="Source Han Sans CN Light" pitchFamily="34" charset="-120"/>
                        </a:rPr>
                        <a:t>多样性</a:t>
                      </a:r>
                      <a:endParaRPr lang="en-US" sz="1700" dirty="0">
                        <a:latin typeface="Source Han Sans CN Light" charset="0"/>
                        <a:ea typeface="Source Han Sans CN Light" charset="0"/>
                        <a:cs typeface="Source Han Sans CN Light" charset="0"/>
                      </a:endParaRPr>
                    </a:p>
                  </a:txBody>
                  <a:tcPr marL="139700" marR="139700" marT="152400" marB="152400" anchor="mid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D3748"/>
                          </a:solidFill>
                          <a:latin typeface="Source Han Sans CN Light" pitchFamily="34" charset="0"/>
                          <a:ea typeface="Source Han Sans CN Light" pitchFamily="34" charset="-122"/>
                          <a:cs typeface="Source Han Sans CN Light" pitchFamily="34" charset="-120"/>
                        </a:rPr>
                        <a:t>立场多样性</a:t>
                      </a:r>
                      <a:endParaRPr lang="en-US" sz="1700" dirty="0">
                        <a:latin typeface="Source Han Sans CN Light" charset="0"/>
                        <a:ea typeface="Source Han Sans CN Light" charset="0"/>
                        <a:cs typeface="Source Han Sans CN Light" charset="0"/>
                      </a:endParaRPr>
                    </a:p>
                  </a:txBody>
                  <a:tcPr marL="139700" marR="139700" marT="152400" marB="152400" anchor="mid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D3748"/>
                          </a:solidFill>
                          <a:latin typeface="Source Han Sans CN Light" pitchFamily="34" charset="0"/>
                          <a:ea typeface="Source Han Sans CN Light" pitchFamily="34" charset="-122"/>
                          <a:cs typeface="Source Han Sans CN Light" pitchFamily="34" charset="-120"/>
                        </a:rPr>
                        <a:t>表达立场的分布</a:t>
                      </a:r>
                      <a:endParaRPr lang="en-US" sz="1700" dirty="0">
                        <a:latin typeface="Source Han Sans CN Light" charset="0"/>
                        <a:ea typeface="Source Han Sans CN Light" charset="0"/>
                        <a:cs typeface="Source Han Sans CN Light" charset="0"/>
                      </a:endParaRPr>
                    </a:p>
                  </a:txBody>
                  <a:tcPr marL="139700" marR="139700" marT="152400" marB="152400" anchor="mid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LABEL_network_construction"/>
          <p:cNvSpPr txBox="1"/>
          <p:nvPr/>
        </p:nvSpPr>
        <p:spPr>
          <a:xfrm>
            <a:off x="6565392" y="1783080"/>
            <a:ext cx="507492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3B70"/>
                </a:solidFill>
                <a:latin typeface="Source Han Sans CN Light"/>
                <a:ea typeface="Source Han Sans CN Light"/>
                <a:cs typeface="Source Han Sans CN Light"/>
              </a:rPr>
              <a:t>图</a:t>
            </a:r>
            <a:r>
              <a:rPr sz="1800" b="0">
                <a:solidFill>
                  <a:srgbClr val="1C3B70"/>
                </a:solidFill>
                <a:latin typeface="Times New Roman"/>
                <a:ea typeface="Times New Roman"/>
                <a:cs typeface="Times New Roman"/>
              </a:rPr>
              <a:t>1B</a:t>
            </a:r>
            <a:r>
              <a:rPr sz="1800" b="0">
                <a:solidFill>
                  <a:srgbClr val="1C3B70"/>
                </a:solidFill>
                <a:latin typeface="Source Han Sans CN Light"/>
                <a:ea typeface="Source Han Sans CN Light"/>
                <a:cs typeface="Source Han Sans CN Light"/>
              </a:rPr>
              <a:t>：从消息到参与者网络</a:t>
            </a:r>
          </a:p>
        </p:txBody>
      </p:sp>
      <p:pic>
        <p:nvPicPr>
          <p:cNvPr id="8" name="EVIDENCE_figure1B_original" descr="figure1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2212848"/>
            <a:ext cx="5074920" cy="3291307"/>
          </a:xfrm>
          <a:prstGeom prst="rect">
            <a:avLst/>
          </a:prstGeom>
        </p:spPr>
      </p:pic>
      <p:sp>
        <p:nvSpPr>
          <p:cNvPr id="9" name="CAPTION_network_node_and_weight"/>
          <p:cNvSpPr txBox="1"/>
          <p:nvPr/>
        </p:nvSpPr>
        <p:spPr>
          <a:xfrm>
            <a:off x="6565392" y="5559552"/>
            <a:ext cx="50749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左：节点＝消息；边＝回应关系。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右：节点＝参与者；边权＝回应次数。</a:t>
            </a:r>
          </a:p>
        </p:txBody>
      </p:sp>
      <p:sp>
        <p:nvSpPr>
          <p:cNvPr id="10" name="BODY_measurement_boundary"/>
          <p:cNvSpPr txBox="1"/>
          <p:nvPr/>
        </p:nvSpPr>
        <p:spPr>
          <a:xfrm>
            <a:off x="540000" y="5504688"/>
            <a:ext cx="56235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隐含文字回应也被编码；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链条深不直接代表论证更深。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main"/>
          <p:cNvSpPr/>
          <p:nvPr/>
        </p:nvSpPr>
        <p:spPr>
          <a:xfrm>
            <a:off x="540000" y="540000"/>
            <a:ext cx="1111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1C3B70"/>
                </a:solidFill>
                <a:latin typeface="Source Han Serif CN"/>
                <a:ea typeface="Source Han Serif CN"/>
                <a:cs typeface="Source Han Serif CN"/>
              </a:rPr>
              <a:t>反应功能：文字更少，单条更长</a:t>
            </a:r>
            <a:endParaRPr lang="en-US" sz="2400" dirty="0"/>
          </a:p>
        </p:txBody>
      </p:sp>
      <p:sp>
        <p:nvSpPr>
          <p:cNvPr id="3" name="TITLE_hairline"/>
          <p:cNvSpPr/>
          <p:nvPr/>
        </p:nvSpPr>
        <p:spPr>
          <a:xfrm>
            <a:off x="540000" y="1143000"/>
            <a:ext cx="11112000" cy="0"/>
          </a:xfrm>
          <a:prstGeom prst="line">
            <a:avLst/>
          </a:prstGeom>
          <a:noFill/>
          <a:ln w="6985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4" name="SOURCE_footer"/>
          <p:cNvSpPr/>
          <p:nvPr/>
        </p:nvSpPr>
        <p:spPr>
          <a:xfrm>
            <a:off x="997199" y="6382512"/>
            <a:ext cx="1019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Jaidka 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等（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2026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），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PDF 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第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10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页图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用户层面；误差线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±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SE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；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+ p&lt;.1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，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* p&lt;.05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，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** p&lt;.01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，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*** p&lt;.001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。</a:t>
            </a:r>
            <a:endParaRPr lang="en-US" sz="1000" dirty="0"/>
          </a:p>
        </p:txBody>
      </p:sp>
      <p:sp>
        <p:nvSpPr>
          <p:cNvPr id="5" name="PAGE_NUMBER_footer"/>
          <p:cNvSpPr/>
          <p:nvPr/>
        </p:nvSpPr>
        <p:spPr>
          <a:xfrm>
            <a:off x="11341104" y="6519672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06</a:t>
            </a:r>
            <a:endParaRPr lang="en-US" sz="1000" dirty="0"/>
          </a:p>
        </p:txBody>
      </p:sp>
      <p:sp>
        <p:nvSpPr>
          <p:cNvPr id="6" name="BODY_reaction_comparison"/>
          <p:cNvSpPr txBox="1"/>
          <p:nvPr/>
        </p:nvSpPr>
        <p:spPr>
          <a:xfrm>
            <a:off x="540000" y="1307592"/>
            <a:ext cx="11112000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C3B70"/>
                </a:solidFill>
                <a:latin typeface="Source Han Sans CN Light"/>
                <a:ea typeface="Source Han Sans CN Light"/>
                <a:cs typeface="Source Han Sans CN Light"/>
              </a:rPr>
              <a:t>比较：反应功能可用，相对于不可用（用户层面）</a:t>
            </a:r>
          </a:p>
        </p:txBody>
      </p:sp>
      <p:sp>
        <p:nvSpPr>
          <p:cNvPr id="7" name="LABEL_volume_direction"/>
          <p:cNvSpPr txBox="1"/>
          <p:nvPr/>
        </p:nvSpPr>
        <p:spPr>
          <a:xfrm>
            <a:off x="1180080" y="1773936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消息数量减少</a:t>
            </a:r>
          </a:p>
        </p:txBody>
      </p:sp>
      <p:sp>
        <p:nvSpPr>
          <p:cNvPr id="8" name="LABEL_length_direction"/>
          <p:cNvSpPr txBox="1"/>
          <p:nvPr/>
        </p:nvSpPr>
        <p:spPr>
          <a:xfrm>
            <a:off x="4563360" y="1773936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单条消息更长</a:t>
            </a:r>
          </a:p>
        </p:txBody>
      </p:sp>
      <p:pic>
        <p:nvPicPr>
          <p:cNvPr id="9" name="EVIDENCE_figure2_user_panels_preserved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000" y="2194560"/>
            <a:ext cx="6510528" cy="3845052"/>
          </a:xfrm>
          <a:prstGeom prst="rect">
            <a:avLst/>
          </a:prstGeom>
        </p:spPr>
      </p:pic>
      <p:sp>
        <p:nvSpPr>
          <p:cNvPr id="10" name="BODY_quality_boundary"/>
          <p:cNvSpPr txBox="1"/>
          <p:nvPr/>
        </p:nvSpPr>
        <p:spPr>
          <a:xfrm>
            <a:off x="8247888" y="2560320"/>
            <a:ext cx="338328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长度是行为指标，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不直接代表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表达质量更高。</a:t>
            </a:r>
          </a:p>
        </p:txBody>
      </p:sp>
      <p:sp>
        <p:nvSpPr>
          <p:cNvPr id="11" name="BODY_substitution_boundary"/>
          <p:cNvSpPr txBox="1"/>
          <p:nvPr/>
        </p:nvSpPr>
        <p:spPr>
          <a:xfrm>
            <a:off x="8247888" y="4379976"/>
            <a:ext cx="338328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替代简短打字：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可能解释，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尚未直接检验。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main"/>
          <p:cNvSpPr/>
          <p:nvPr/>
        </p:nvSpPr>
        <p:spPr>
          <a:xfrm>
            <a:off x="540000" y="540000"/>
            <a:ext cx="1111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1C3B70"/>
                </a:solidFill>
                <a:latin typeface="Source Han Serif CN"/>
                <a:ea typeface="Source Han Serif CN"/>
                <a:cs typeface="Source Han Serif CN"/>
              </a:rPr>
              <a:t>回复功能：链条加深，立场多样性下降</a:t>
            </a:r>
            <a:endParaRPr lang="en-US" sz="2400" dirty="0"/>
          </a:p>
        </p:txBody>
      </p:sp>
      <p:sp>
        <p:nvSpPr>
          <p:cNvPr id="3" name="TITLE_hairline"/>
          <p:cNvSpPr/>
          <p:nvPr/>
        </p:nvSpPr>
        <p:spPr>
          <a:xfrm>
            <a:off x="540000" y="1143000"/>
            <a:ext cx="11112000" cy="0"/>
          </a:xfrm>
          <a:prstGeom prst="line">
            <a:avLst/>
          </a:prstGeom>
          <a:noFill/>
          <a:ln w="6985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4" name="SOURCE_footer"/>
          <p:cNvSpPr/>
          <p:nvPr/>
        </p:nvSpPr>
        <p:spPr>
          <a:xfrm>
            <a:off x="997199" y="6382512"/>
            <a:ext cx="1019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原图按变量定位：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PDF 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第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12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页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 Conversation Depth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；第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11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页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 Shannon Diversity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；误差线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±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SE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。</a:t>
            </a:r>
            <a:endParaRPr lang="en-US" sz="1000" dirty="0"/>
          </a:p>
        </p:txBody>
      </p:sp>
      <p:sp>
        <p:nvSpPr>
          <p:cNvPr id="5" name="PAGE_NUMBER_footer"/>
          <p:cNvSpPr/>
          <p:nvPr/>
        </p:nvSpPr>
        <p:spPr>
          <a:xfrm>
            <a:off x="11341104" y="6519672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07</a:t>
            </a:r>
            <a:endParaRPr lang="en-US" sz="1000" dirty="0"/>
          </a:p>
        </p:txBody>
      </p:sp>
      <p:sp>
        <p:nvSpPr>
          <p:cNvPr id="6" name="BODY_reply_comparison"/>
          <p:cNvSpPr txBox="1"/>
          <p:nvPr/>
        </p:nvSpPr>
        <p:spPr>
          <a:xfrm>
            <a:off x="540000" y="1307592"/>
            <a:ext cx="11112000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3B70"/>
                </a:solidFill>
                <a:latin typeface="Source Han Sans CN Light"/>
                <a:ea typeface="Source Han Sans CN Light"/>
                <a:cs typeface="Source Han Sans CN Light"/>
              </a:rPr>
              <a:t>比较：回复功能可用，相对于不可用（用户层面；关注橙色效应点）</a:t>
            </a:r>
          </a:p>
        </p:txBody>
      </p:sp>
      <p:sp>
        <p:nvSpPr>
          <p:cNvPr id="7" name="LABEL_conversation_depth"/>
          <p:cNvSpPr txBox="1"/>
          <p:nvPr/>
        </p:nvSpPr>
        <p:spPr>
          <a:xfrm>
            <a:off x="540000" y="1801368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回复链深度增加</a:t>
            </a:r>
          </a:p>
        </p:txBody>
      </p:sp>
      <p:sp>
        <p:nvSpPr>
          <p:cNvPr id="8" name="LABEL_shannon_diversity"/>
          <p:cNvSpPr txBox="1"/>
          <p:nvPr/>
        </p:nvSpPr>
        <p:spPr>
          <a:xfrm>
            <a:off x="6419088" y="1801368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立场多样性下降</a:t>
            </a:r>
          </a:p>
        </p:txBody>
      </p:sp>
      <p:pic>
        <p:nvPicPr>
          <p:cNvPr id="9" name="EVIDENCE_conversation_depth_user" descr="conversation-depth-us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3658" y="2258568"/>
            <a:ext cx="2736202" cy="3575304"/>
          </a:xfrm>
          <a:prstGeom prst="rect">
            <a:avLst/>
          </a:prstGeom>
        </p:spPr>
      </p:pic>
      <p:pic>
        <p:nvPicPr>
          <p:cNvPr id="10" name="EVIDENCE_shannon_diversity_user" descr="shannon-diversity-us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8642" y="2258568"/>
            <a:ext cx="2764410" cy="3575304"/>
          </a:xfrm>
          <a:prstGeom prst="rect">
            <a:avLst/>
          </a:prstGeom>
        </p:spPr>
      </p:pic>
      <p:sp>
        <p:nvSpPr>
          <p:cNvPr id="11" name="BODY_result_scope"/>
          <p:cNvSpPr txBox="1"/>
          <p:nvPr/>
        </p:nvSpPr>
        <p:spPr>
          <a:xfrm>
            <a:off x="540000" y="5998464"/>
            <a:ext cx="111120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结构深度不是论证深度；立场分布只是一类多样性。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main"/>
          <p:cNvSpPr/>
          <p:nvPr/>
        </p:nvSpPr>
        <p:spPr>
          <a:xfrm>
            <a:off x="540000" y="540000"/>
            <a:ext cx="1111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1C3B70"/>
                </a:solidFill>
                <a:latin typeface="Source Han Serif CN"/>
                <a:ea typeface="Source Han Serif CN"/>
                <a:cs typeface="Source Han Serif CN"/>
              </a:rPr>
              <a:t>贡献：具体功能与多维行为后果</a:t>
            </a:r>
            <a:endParaRPr lang="en-US" sz="2400" dirty="0"/>
          </a:p>
        </p:txBody>
      </p:sp>
      <p:sp>
        <p:nvSpPr>
          <p:cNvPr id="3" name="TITLE_hairline"/>
          <p:cNvSpPr/>
          <p:nvPr/>
        </p:nvSpPr>
        <p:spPr>
          <a:xfrm>
            <a:off x="540000" y="1143000"/>
            <a:ext cx="11112000" cy="0"/>
          </a:xfrm>
          <a:prstGeom prst="line">
            <a:avLst/>
          </a:prstGeom>
          <a:noFill/>
          <a:ln w="6985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4" name="SOURCE_footer"/>
          <p:cNvSpPr/>
          <p:nvPr/>
        </p:nvSpPr>
        <p:spPr>
          <a:xfrm>
            <a:off x="997199" y="6382512"/>
            <a:ext cx="1019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Jaidka 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等（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2026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），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PDF 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第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10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页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 Discussion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及后续讨论；贡献边界结合第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12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—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14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页。</a:t>
            </a:r>
            <a:endParaRPr lang="en-US" sz="1000" dirty="0"/>
          </a:p>
        </p:txBody>
      </p:sp>
      <p:sp>
        <p:nvSpPr>
          <p:cNvPr id="5" name="PAGE_NUMBER_footer"/>
          <p:cNvSpPr/>
          <p:nvPr/>
        </p:nvSpPr>
        <p:spPr>
          <a:xfrm>
            <a:off x="11341104" y="6519672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08</a:t>
            </a:r>
            <a:endParaRPr lang="en-US" sz="1000" dirty="0"/>
          </a:p>
        </p:txBody>
      </p:sp>
      <p:sp>
        <p:nvSpPr>
          <p:cNvPr id="6" name="LABEL_contribution_theory"/>
          <p:cNvSpPr txBox="1"/>
          <p:nvPr/>
        </p:nvSpPr>
        <p:spPr>
          <a:xfrm>
            <a:off x="540000" y="1554480"/>
            <a:ext cx="52578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C3B70"/>
                </a:solidFill>
                <a:latin typeface="Source Han Sans CN Light"/>
                <a:ea typeface="Source Han Sans CN Light"/>
                <a:cs typeface="Source Han Sans CN Light"/>
              </a:rPr>
              <a:t>理论与研究问题</a:t>
            </a:r>
          </a:p>
        </p:txBody>
      </p:sp>
      <p:sp>
        <p:nvSpPr>
          <p:cNvPr id="7" name="BODY_theory_contribution"/>
          <p:cNvSpPr txBox="1"/>
          <p:nvPr/>
        </p:nvSpPr>
        <p:spPr>
          <a:xfrm>
            <a:off x="540000" y="2240280"/>
            <a:ext cx="5257800" cy="1078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把抽象的互动性落实到具体功能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观察不同讨论维度的行为后果</a:t>
            </a:r>
          </a:p>
        </p:txBody>
      </p:sp>
      <p:sp>
        <p:nvSpPr>
          <p:cNvPr id="8" name="LABEL_contribution_method"/>
          <p:cNvSpPr txBox="1"/>
          <p:nvPr/>
        </p:nvSpPr>
        <p:spPr>
          <a:xfrm>
            <a:off x="6437376" y="1554480"/>
            <a:ext cx="516636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C3B70"/>
                </a:solidFill>
                <a:latin typeface="Source Han Sans CN Light"/>
                <a:ea typeface="Source Han Sans CN Light"/>
                <a:cs typeface="Source Han Sans CN Light"/>
              </a:rPr>
              <a:t>方法与研究对象</a:t>
            </a:r>
          </a:p>
        </p:txBody>
      </p:sp>
      <p:sp>
        <p:nvSpPr>
          <p:cNvPr id="9" name="BODY_method_contribution"/>
          <p:cNvSpPr txBox="1"/>
          <p:nvPr/>
        </p:nvSpPr>
        <p:spPr>
          <a:xfrm>
            <a:off x="6437376" y="2240280"/>
            <a:ext cx="5166360" cy="1078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在受控平台随机比较功能条件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使用实际讨论行为记录</a:t>
            </a:r>
          </a:p>
        </p:txBody>
      </p:sp>
      <p:sp>
        <p:nvSpPr>
          <p:cNvPr id="10" name="RULE"/>
          <p:cNvSpPr/>
          <p:nvPr/>
        </p:nvSpPr>
        <p:spPr>
          <a:xfrm>
            <a:off x="540000" y="3767328"/>
            <a:ext cx="11112000" cy="548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ODY_contribution_boundary"/>
          <p:cNvSpPr txBox="1"/>
          <p:nvPr/>
        </p:nvSpPr>
        <p:spPr>
          <a:xfrm>
            <a:off x="540000" y="4005072"/>
            <a:ext cx="11112000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提供更细的功能评价视角，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尚未直接验证完整心理机制，也未覆盖讨论质量的全部含义。</a:t>
            </a:r>
          </a:p>
        </p:txBody>
      </p:sp>
      <p:sp>
        <p:nvSpPr>
          <p:cNvPr id="12" name="SOURCE_discussion_complete_sentence"/>
          <p:cNvSpPr txBox="1"/>
          <p:nvPr/>
        </p:nvSpPr>
        <p:spPr>
          <a:xfrm>
            <a:off x="540000" y="5376672"/>
            <a:ext cx="1111200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“</a:t>
            </a:r>
            <a:r>
              <a:rPr sz="16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Our experiment isolates reactions and replies and traces their behavioral consequences,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extending observational research on how these structures organize discussion.</a:t>
            </a:r>
            <a:r>
              <a:rPr sz="16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main"/>
          <p:cNvSpPr/>
          <p:nvPr/>
        </p:nvSpPr>
        <p:spPr>
          <a:xfrm>
            <a:off x="540000" y="540000"/>
            <a:ext cx="1111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1C3B70"/>
                </a:solidFill>
                <a:latin typeface="Source Han Serif CN"/>
                <a:ea typeface="Source Han Serif CN"/>
                <a:cs typeface="Source Han Serif CN"/>
              </a:rPr>
              <a:t>两项需要保留的证据边界</a:t>
            </a:r>
            <a:endParaRPr lang="en-US" sz="2400" dirty="0"/>
          </a:p>
        </p:txBody>
      </p:sp>
      <p:sp>
        <p:nvSpPr>
          <p:cNvPr id="3" name="TITLE_hairline"/>
          <p:cNvSpPr/>
          <p:nvPr/>
        </p:nvSpPr>
        <p:spPr>
          <a:xfrm>
            <a:off x="540000" y="1143000"/>
            <a:ext cx="11112000" cy="0"/>
          </a:xfrm>
          <a:prstGeom prst="line">
            <a:avLst/>
          </a:prstGeom>
          <a:noFill/>
          <a:ln w="6985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4" name="SOURCE_footer"/>
          <p:cNvSpPr/>
          <p:nvPr/>
        </p:nvSpPr>
        <p:spPr>
          <a:xfrm>
            <a:off x="997199" y="6382512"/>
            <a:ext cx="1019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作者说明及原文引句：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Jaidka 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等（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2026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），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PDF 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第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14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页左栏；右侧为汇报者评价。</a:t>
            </a:r>
            <a:endParaRPr lang="en-US" sz="1000" dirty="0"/>
          </a:p>
        </p:txBody>
      </p:sp>
      <p:sp>
        <p:nvSpPr>
          <p:cNvPr id="5" name="PAGE_NUMBER_footer"/>
          <p:cNvSpPr/>
          <p:nvPr/>
        </p:nvSpPr>
        <p:spPr>
          <a:xfrm>
            <a:off x="11341104" y="6519672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</a:t>
            </a:r>
            <a:endParaRPr lang="en-US" sz="1000" dirty="0"/>
          </a:p>
        </p:txBody>
      </p:sp>
      <p:sp>
        <p:nvSpPr>
          <p:cNvPr id="6" name="LABEL_author_explanation"/>
          <p:cNvSpPr txBox="1"/>
          <p:nvPr/>
        </p:nvSpPr>
        <p:spPr>
          <a:xfrm>
            <a:off x="540000" y="1371600"/>
            <a:ext cx="54864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3B70"/>
                </a:solidFill>
                <a:latin typeface="Source Han Sans CN Light"/>
                <a:ea typeface="Source Han Sans CN Light"/>
                <a:cs typeface="Source Han Sans CN Light"/>
              </a:rPr>
              <a:t>作者说明（译述）</a:t>
            </a:r>
          </a:p>
        </p:txBody>
      </p:sp>
      <p:sp>
        <p:nvSpPr>
          <p:cNvPr id="7" name="LABEL_evaluation"/>
          <p:cNvSpPr txBox="1"/>
          <p:nvPr/>
        </p:nvSpPr>
        <p:spPr>
          <a:xfrm>
            <a:off x="6693408" y="1371600"/>
            <a:ext cx="48920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3B70"/>
                </a:solidFill>
                <a:latin typeface="Source Han Sans CN Light"/>
                <a:ea typeface="Source Han Sans CN Light"/>
                <a:cs typeface="Source Han Sans CN Light"/>
              </a:rPr>
              <a:t>对结论的影响与待核验事项</a:t>
            </a:r>
          </a:p>
        </p:txBody>
      </p:sp>
      <p:sp>
        <p:nvSpPr>
          <p:cNvPr id="8" name="LABEL_nonposting_module"/>
          <p:cNvSpPr txBox="1"/>
          <p:nvPr/>
        </p:nvSpPr>
        <p:spPr>
          <a:xfrm>
            <a:off x="540000" y="1856231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C3B70"/>
                </a:solidFill>
                <a:latin typeface="Source Han Sans CN Light"/>
                <a:ea typeface="Source Han Sans CN Light"/>
                <a:cs typeface="Source Han Sans CN Light"/>
              </a:rPr>
              <a:t>未发言者排除</a:t>
            </a:r>
          </a:p>
        </p:txBody>
      </p:sp>
      <p:sp>
        <p:nvSpPr>
          <p:cNvPr id="9" name="BODY_author_nonposters"/>
          <p:cNvSpPr txBox="1"/>
          <p:nvPr/>
        </p:nvSpPr>
        <p:spPr>
          <a:xfrm>
            <a:off x="540000" y="2359152"/>
            <a:ext cx="5486400" cy="7589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关注讨论贡献者的行为；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D3748"/>
                </a:solidFill>
                <a:latin typeface="Times New Roman"/>
                <a:ea typeface="Times New Roman"/>
                <a:cs typeface="Times New Roman"/>
              </a:rPr>
              <a:t>273</a:t>
            </a:r>
            <a:r>
              <a:rPr sz="18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名未发言者未纳入主要分析。</a:t>
            </a:r>
          </a:p>
        </p:txBody>
      </p:sp>
      <p:sp>
        <p:nvSpPr>
          <p:cNvPr id="10" name="SOURCE_nonposting_context"/>
          <p:cNvSpPr txBox="1"/>
          <p:nvPr/>
        </p:nvSpPr>
        <p:spPr>
          <a:xfrm>
            <a:off x="540000" y="3236976"/>
            <a:ext cx="54864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“</a:t>
            </a:r>
            <a:r>
              <a:rPr sz="14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We focus on internal inclusiveness, or how discussions unfold among contributors, rather than external exclusiveness, or who is deterred from participating at all.</a:t>
            </a:r>
            <a:r>
              <a:rPr sz="14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”</a:t>
            </a:r>
          </a:p>
        </p:txBody>
      </p:sp>
      <p:sp>
        <p:nvSpPr>
          <p:cNvPr id="11" name="BODY_selection_risk"/>
          <p:cNvSpPr txBox="1"/>
          <p:nvPr/>
        </p:nvSpPr>
        <p:spPr>
          <a:xfrm>
            <a:off x="6693408" y="2404872"/>
            <a:ext cx="4892040" cy="1243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若功能影响谁愿意开口，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发言者子样本可能产生选择问题。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补充检查：比较各条件发言比例。</a:t>
            </a:r>
          </a:p>
        </p:txBody>
      </p:sp>
      <p:sp>
        <p:nvSpPr>
          <p:cNvPr id="12" name="RULE"/>
          <p:cNvSpPr/>
          <p:nvPr/>
        </p:nvSpPr>
        <p:spPr>
          <a:xfrm>
            <a:off x="540000" y="4023360"/>
            <a:ext cx="11112000" cy="548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ABEL_preregistration_module"/>
          <p:cNvSpPr txBox="1"/>
          <p:nvPr/>
        </p:nvSpPr>
        <p:spPr>
          <a:xfrm>
            <a:off x="540000" y="4242816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C3B70"/>
                </a:solidFill>
                <a:latin typeface="Source Han Sans CN Light"/>
                <a:ea typeface="Source Han Sans CN Light"/>
                <a:cs typeface="Source Han Sans CN Light"/>
              </a:rPr>
              <a:t>预注册与当前分析</a:t>
            </a:r>
          </a:p>
        </p:txBody>
      </p:sp>
      <p:sp>
        <p:nvSpPr>
          <p:cNvPr id="14" name="BODY_author_preregistration"/>
          <p:cNvSpPr txBox="1"/>
          <p:nvPr/>
        </p:nvSpPr>
        <p:spPr>
          <a:xfrm>
            <a:off x="540000" y="4754880"/>
            <a:ext cx="54864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部分预注册语言质量检验未显著，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当前分析重点转向内部包容性。</a:t>
            </a:r>
          </a:p>
        </p:txBody>
      </p:sp>
      <p:sp>
        <p:nvSpPr>
          <p:cNvPr id="15" name="SOURCE_preregistration_context"/>
          <p:cNvSpPr txBox="1"/>
          <p:nvPr/>
        </p:nvSpPr>
        <p:spPr>
          <a:xfrm>
            <a:off x="540000" y="5577840"/>
            <a:ext cx="548640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“</a:t>
            </a:r>
            <a:r>
              <a:rPr sz="14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The study design and selected hypotheses concerning linguistic deliberative quality were pre-registered; however, treatments yielded no significant effects on those outcomes.</a:t>
            </a:r>
            <a:r>
              <a:rPr sz="14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”</a:t>
            </a:r>
          </a:p>
        </p:txBody>
      </p:sp>
      <p:sp>
        <p:nvSpPr>
          <p:cNvPr id="16" name="BODY_confirmation_boundary"/>
          <p:cNvSpPr txBox="1"/>
          <p:nvPr/>
        </p:nvSpPr>
        <p:spPr>
          <a:xfrm>
            <a:off x="6693408" y="4736592"/>
            <a:ext cx="4892040" cy="12252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哪些当前检验属于事前计划，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需逐项对照注册方案。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不能一概断定为事后发现。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main"/>
          <p:cNvSpPr/>
          <p:nvPr/>
        </p:nvSpPr>
        <p:spPr>
          <a:xfrm>
            <a:off x="540000" y="540000"/>
            <a:ext cx="1111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1C3B70"/>
                </a:solidFill>
                <a:latin typeface="Source Han Serif CN"/>
                <a:ea typeface="Source Han Serif CN"/>
                <a:cs typeface="Source Han Serif CN"/>
              </a:rPr>
              <a:t>回到开场：界面功能如何评价？</a:t>
            </a:r>
            <a:endParaRPr lang="en-US" sz="2400" dirty="0"/>
          </a:p>
        </p:txBody>
      </p:sp>
      <p:sp>
        <p:nvSpPr>
          <p:cNvPr id="3" name="TITLE_hairline"/>
          <p:cNvSpPr/>
          <p:nvPr/>
        </p:nvSpPr>
        <p:spPr>
          <a:xfrm>
            <a:off x="540000" y="1143000"/>
            <a:ext cx="11112000" cy="0"/>
          </a:xfrm>
          <a:prstGeom prst="line">
            <a:avLst/>
          </a:prstGeom>
          <a:noFill/>
          <a:ln w="6985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4" name="SOURCE_footer"/>
          <p:cNvSpPr/>
          <p:nvPr/>
        </p:nvSpPr>
        <p:spPr>
          <a:xfrm>
            <a:off x="997199" y="6382512"/>
            <a:ext cx="1019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Jaidka 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等（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2026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），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Conclusion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，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PDF 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第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14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页。原论文开放获取（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CC BY 4.0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）。</a:t>
            </a:r>
            <a:endParaRPr lang="en-US" sz="1000" dirty="0"/>
          </a:p>
        </p:txBody>
      </p:sp>
      <p:sp>
        <p:nvSpPr>
          <p:cNvPr id="5" name="PAGE_NUMBER_footer"/>
          <p:cNvSpPr/>
          <p:nvPr/>
        </p:nvSpPr>
        <p:spPr>
          <a:xfrm>
            <a:off x="11341104" y="6519672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BODY_final_conclusion"/>
          <p:cNvSpPr txBox="1"/>
          <p:nvPr/>
        </p:nvSpPr>
        <p:spPr>
          <a:xfrm>
            <a:off x="540000" y="1865376"/>
            <a:ext cx="11112000" cy="1481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文字减少，不等于参与全面衰退。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回复链加深，不等于讨论全面改善。</a:t>
            </a:r>
          </a:p>
        </p:txBody>
      </p:sp>
      <p:sp>
        <p:nvSpPr>
          <p:cNvPr id="7" name="BODY_overall_judgment"/>
          <p:cNvSpPr txBox="1"/>
          <p:nvPr/>
        </p:nvSpPr>
        <p:spPr>
          <a:xfrm>
            <a:off x="540000" y="3877056"/>
            <a:ext cx="111120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C3B70"/>
                </a:solidFill>
                <a:latin typeface="Source Han Sans CN Light"/>
                <a:ea typeface="Source Han Sans CN Light"/>
                <a:cs typeface="Source Han Sans CN Light"/>
              </a:rPr>
              <a:t>结合目标、指标与适用范围，评价界面功能。</a:t>
            </a:r>
          </a:p>
        </p:txBody>
      </p:sp>
      <p:sp>
        <p:nvSpPr>
          <p:cNvPr id="8" name="SOURCE_final_bibliography"/>
          <p:cNvSpPr txBox="1"/>
          <p:nvPr/>
        </p:nvSpPr>
        <p:spPr>
          <a:xfrm>
            <a:off x="540000" y="4892040"/>
            <a:ext cx="111120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D3748"/>
                </a:solidFill>
                <a:latin typeface="Times New Roman"/>
                <a:ea typeface="Times New Roman"/>
                <a:cs typeface="Times New Roman"/>
              </a:rPr>
              <a:t>Jaidka </a:t>
            </a:r>
            <a:r>
              <a:rPr sz="17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等（</a:t>
            </a:r>
            <a:r>
              <a:rPr sz="1700" b="0">
                <a:solidFill>
                  <a:srgbClr val="2D3748"/>
                </a:solidFill>
                <a:latin typeface="Times New Roman"/>
                <a:ea typeface="Times New Roman"/>
                <a:cs typeface="Times New Roman"/>
              </a:rPr>
              <a:t>2026</a:t>
            </a:r>
            <a:r>
              <a:rPr sz="17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），</a:t>
            </a:r>
            <a:r>
              <a:rPr sz="1700" b="0">
                <a:solidFill>
                  <a:srgbClr val="2D3748"/>
                </a:solidFill>
                <a:latin typeface="Times New Roman"/>
                <a:ea typeface="Times New Roman"/>
                <a:cs typeface="Times New Roman"/>
              </a:rPr>
              <a:t>JCMC, 31(3), zmag008</a:t>
            </a:r>
          </a:p>
        </p:txBody>
      </p:sp>
      <p:sp>
        <p:nvSpPr>
          <p:cNvPr id="9" name="SOURCE_DOI_clickable"/>
          <p:cNvSpPr txBox="1"/>
          <p:nvPr/>
        </p:nvSpPr>
        <p:spPr>
          <a:xfrm>
            <a:off x="540000" y="5431536"/>
            <a:ext cx="768096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3B70"/>
                </a:solidFill>
                <a:latin typeface="Times New Roman"/>
                <a:ea typeface="Times New Roman"/>
                <a:cs typeface="Times New Roman"/>
                <a:hlinkClick r:id="rId1"/>
              </a:rPr>
              <a:t>https://doi.org/10.1093/jcmc/zmag008</a:t>
            </a:r>
          </a:p>
        </p:txBody>
      </p:sp>
      <p:sp>
        <p:nvSpPr>
          <p:cNvPr id="10" name="SOURCE_real_pdf_link"/>
          <p:cNvSpPr txBox="1"/>
          <p:nvPr/>
        </p:nvSpPr>
        <p:spPr>
          <a:xfrm>
            <a:off x="8869680" y="5431536"/>
            <a:ext cx="27432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3B70"/>
                </a:solidFill>
                <a:latin typeface="Source Han Sans CN Light"/>
                <a:ea typeface="Source Han Sans CN Light"/>
                <a:cs typeface="Source Han Sans CN Light"/>
                <a:hlinkClick r:id="rId4"/>
              </a:rPr>
              <a:t>获取论文</a:t>
            </a:r>
            <a:r>
              <a:rPr sz="1800" b="0">
                <a:solidFill>
                  <a:srgbClr val="1C3B70"/>
                </a:solidFill>
                <a:latin typeface="Times New Roman"/>
                <a:ea typeface="Times New Roman"/>
                <a:cs typeface="Times New Roman"/>
                <a:hlinkClick r:id="rId4"/>
              </a:rPr>
              <a:t> PDF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ource Han Serif C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ource Han Sans CN Ligh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反应与回复如何改变政治讨论？</dc:title>
  <dc:subject>Jaidka 等（2026）：反应与回复功能的多维行为后果</dc:subject>
  <dc:creator>学术文献汇报</dc:creator>
  <cp:lastModifiedBy>学术文献汇报</cp:lastModifiedBy>
  <cp:revision>1</cp:revision>
  <dcterms:created xsi:type="dcterms:W3CDTF">2026-10-27T09:39:43Z</dcterms:created>
  <dcterms:modified xsi:type="dcterms:W3CDTF">2026-10-27T09:39:43Z</dcterms:modified>
</cp:coreProperties>
</file>